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Inter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66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6753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Boston 311 Service Request</a:t>
            </a: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Performance Analysis (2015–2019)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23374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ALY6015 – Intermediate Analytics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77452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Instructor: Prof. Roy Wada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31530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Members: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Krithika Krishna Murthy, Cheryl Mushangwe, Vanessa Mutimaamba, Wenjun Chen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96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41101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32874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311 is a centralized system for non-emergency service requests submitted by residents. Analyzing this data provides insight into municipal service efficiency, response speed, and equity across neighborhoods.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18706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Evaluate trends and determinants of service request closure performance between 2015 and 2019.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27847"/>
            <a:ext cx="6521410" cy="793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47199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Submit Request</a:t>
            </a:r>
            <a:endParaRPr lang="en-US" sz="1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727847"/>
            <a:ext cx="6521410" cy="7937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3558" y="47199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Intake</a:t>
            </a:r>
            <a:endParaRPr lang="en-US" sz="1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228511"/>
            <a:ext cx="6521410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2148" y="62206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 Action</a:t>
            </a:r>
            <a:endParaRPr lang="en-US" sz="1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228511"/>
            <a:ext cx="6521410" cy="7937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3558" y="62206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Resolve Case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93790" y="695241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streamlined process connects residents directly to city services for efficient problem resolution.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74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Questions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55686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Questions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793790" y="3474601"/>
            <a:ext cx="4215289" cy="2587466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768" y="368057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3844171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44742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Trends Over Time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4903470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did service request volume, closure time, and timely closure change from 2015–2019?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3474601"/>
            <a:ext cx="4215408" cy="2587466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13415" y="368057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126" y="3844171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415" y="44742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Impact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13415" y="4903470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submission channel associated with timely closure?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3474601"/>
            <a:ext cx="4215289" cy="2587466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27181" y="368057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0892" y="3844171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7181" y="44742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Factors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27181" y="4903470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request characteristics predict longer or shorter closure times?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554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551634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Description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4246126"/>
            <a:ext cx="6279356" cy="95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311 Service Requests (2015–2019)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~1.2 million service requests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Boston Open Data Portal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3551634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Variables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564874" y="4246126"/>
            <a:ext cx="6279356" cy="1270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&amp; closure dates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and subject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Neighborhood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channel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746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Outcomes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93790" y="998220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 Variables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93790" y="188368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Closure Days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2290524"/>
            <a:ext cx="631567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between request opening and closure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01409"/>
            <a:ext cx="5368290" cy="32208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28560" y="188368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Timely Closure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28560" y="2290524"/>
            <a:ext cx="631567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indicator (closed within 7 days)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560" y="2701409"/>
            <a:ext cx="5261372" cy="32882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3790" y="6365915"/>
            <a:ext cx="3373993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Characteristics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793790" y="7002661"/>
            <a:ext cx="13042821" cy="49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right-skewed distribution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number of extreme delays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Analytical Approach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275427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Methods Overview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8703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Analytical Approach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378881"/>
            <a:ext cx="6279356" cy="1270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statistics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Chi-square test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LASSO regression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21999" y="3672007"/>
            <a:ext cx="6565106" cy="2254687"/>
          </a:xfrm>
          <a:prstGeom prst="roundRect">
            <a:avLst>
              <a:gd name="adj" fmla="val 6338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620357" y="3870365"/>
            <a:ext cx="25005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These Methods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0357" y="4378881"/>
            <a:ext cx="6168390" cy="95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for large administrative data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skewed and binary outcomes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key predictors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8844"/>
            <a:ext cx="51696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Descriptive Statistics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78217"/>
            <a:ext cx="625697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Statistics (2015–2019)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3771186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1.2M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1090613" y="46741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Requests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116467" y="3771186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38.79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4413290" y="46741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Mean Closure Days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439144" y="3771186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0.77</a:t>
            </a:r>
            <a:endParaRPr lang="en-US" sz="5150" dirty="0"/>
          </a:p>
        </p:txBody>
      </p:sp>
      <p:sp>
        <p:nvSpPr>
          <p:cNvPr id="9" name="Text 7"/>
          <p:cNvSpPr/>
          <p:nvPr/>
        </p:nvSpPr>
        <p:spPr>
          <a:xfrm>
            <a:off x="7694414" y="4674156"/>
            <a:ext cx="25640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Median Closure Days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761821" y="3771186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71.86%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11058763" y="46741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Timely Closure Rate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93790" y="5207556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510451"/>
            <a:ext cx="248007" cy="1983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38513" y="5455444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Large gap between mean and median indicates extreme delays in a small subset of cases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345"/>
            <a:ext cx="57511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 Volume Trends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55471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Requests Over Time</a:t>
            </a:r>
            <a:endParaRPr lang="en-US" sz="3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1750"/>
            <a:ext cx="7632025" cy="457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17543" y="25468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917543" y="3117294"/>
            <a:ext cx="4926568" cy="63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increased from 2015–2018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 decline in 2019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917543" y="3975654"/>
            <a:ext cx="4926568" cy="1160740"/>
          </a:xfrm>
          <a:prstGeom prst="roundRect">
            <a:avLst>
              <a:gd name="adj" fmla="val 7182"/>
            </a:avLst>
          </a:prstGeom>
          <a:solidFill>
            <a:srgbClr val="C7C9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901" y="4278549"/>
            <a:ext cx="248007" cy="1983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62267" y="4223543"/>
            <a:ext cx="40834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Growing demand places pressure on service delivery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0362"/>
            <a:ext cx="50149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Closure Time Trends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89735"/>
            <a:ext cx="58203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Closure Days by Year</a:t>
            </a:r>
            <a:endParaRPr lang="en-US" sz="3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06767"/>
            <a:ext cx="7182207" cy="4309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17543" y="26818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917543" y="3252311"/>
            <a:ext cx="4926568" cy="95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sharply, peaking in 2017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after 2017 but remained above 2015 levels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17543" y="4383582"/>
            <a:ext cx="49265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spike in 2017 represents a critical period where service delivery faced significant challenges before recovery efforts took effect.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345"/>
            <a:ext cx="51268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Timely Closure Rates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554718"/>
            <a:ext cx="570297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Percent Closed Within 7 Days</a:t>
            </a:r>
            <a:endParaRPr lang="en-US" sz="3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1750"/>
            <a:ext cx="7632025" cy="457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17543" y="25468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917543" y="3117294"/>
            <a:ext cx="4926568" cy="63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significantly after 2015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Stabilized above 70% after 2017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17543" y="3931006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Efficiency improved despite higher demand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345"/>
            <a:ext cx="57007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Neighborhood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554718"/>
            <a:ext cx="661523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 Volume by Neighborhood</a:t>
            </a:r>
            <a:endParaRPr lang="en-US" sz="3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1750"/>
            <a:ext cx="7632025" cy="457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17543" y="25468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917543" y="3117294"/>
            <a:ext cx="4926568" cy="63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volume: Dorchester, Roxbury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Reflects population density and area size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17543" y="3931006"/>
            <a:ext cx="49265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distribution of service requests across neighborhoods provides insight into where municipal resources are most needed.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234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 Test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965597"/>
            <a:ext cx="9611439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Chi-Square Test: Channel vs Timely Closure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93790" y="1945719"/>
            <a:ext cx="7651313" cy="1245870"/>
          </a:xfrm>
          <a:prstGeom prst="roundRect">
            <a:avLst>
              <a:gd name="adj" fmla="val 602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953339"/>
            <a:ext cx="7636073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0361" y="2057400"/>
            <a:ext cx="91106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56234" y="2057400"/>
            <a:ext cx="9072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94169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8298" y="2057400"/>
            <a:ext cx="90809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364682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1195" y="2057400"/>
            <a:ext cx="90809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458851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74093" y="2057400"/>
            <a:ext cx="90809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46990" y="2057400"/>
            <a:ext cx="91190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1410" y="2432923"/>
            <a:ext cx="7636073" cy="7510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80361" y="2536984"/>
            <a:ext cx="91106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Non-Mobile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56234" y="2536984"/>
            <a:ext cx="9072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228980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8298" y="2536984"/>
            <a:ext cx="90809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511826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1195" y="2536984"/>
            <a:ext cx="90809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740806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74093" y="2536984"/>
            <a:ext cx="90809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46990" y="2536984"/>
            <a:ext cx="91190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3790" y="3372445"/>
            <a:ext cx="76513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Chi-Square: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15531.83 | </a:t>
            </a: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| </a:t>
            </a: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p-value: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492" y="1945719"/>
            <a:ext cx="4376261" cy="32821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888492" y="5408771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Results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8888492" y="5904309"/>
            <a:ext cx="4955619" cy="81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association between submission channel and timely closure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indicate a statistically significant relationship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888492" y="6863509"/>
            <a:ext cx="495561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Submission channel influences closure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19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55175"/>
            <a:ext cx="6276737" cy="436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4874" y="2330291"/>
            <a:ext cx="41328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Predictors of Timely Closure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7564874" y="2925604"/>
            <a:ext cx="3040499" cy="1586032"/>
          </a:xfrm>
          <a:prstGeom prst="roundRect">
            <a:avLst>
              <a:gd name="adj" fmla="val 525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86092" y="31468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Effects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786092" y="3655338"/>
            <a:ext cx="259806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years → higher odds of timely closure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803731" y="2925604"/>
            <a:ext cx="3040499" cy="1586032"/>
          </a:xfrm>
          <a:prstGeom prst="roundRect">
            <a:avLst>
              <a:gd name="adj" fmla="val 525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24949" y="31468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Impact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024949" y="3655338"/>
            <a:ext cx="259806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channel significantly associated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564874" y="4709993"/>
            <a:ext cx="6279356" cy="1268492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86092" y="49312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Contextual Variation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7786092" y="5439728"/>
            <a:ext cx="583692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Effects vary by subject and neighborhood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64874" y="620172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Operational improvements over time increased efficiency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3893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LASSO Regression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248251"/>
            <a:ext cx="3951327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Predicting Closure Days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46208"/>
            <a:ext cx="4206954" cy="215253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359950"/>
            <a:ext cx="4871204" cy="30444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8560" y="202834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Drivers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528560" y="2487930"/>
            <a:ext cx="631567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strongest drivers of long delays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528560" y="2898815"/>
            <a:ext cx="3086100" cy="1289090"/>
          </a:xfrm>
          <a:prstGeom prst="roundRect">
            <a:avLst>
              <a:gd name="adj" fmla="val 549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20013" y="309026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Complexity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720013" y="3497104"/>
            <a:ext cx="2703195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and regulatory services linked to longer closures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758011" y="2898815"/>
            <a:ext cx="3086219" cy="1289090"/>
          </a:xfrm>
          <a:prstGeom prst="roundRect">
            <a:avLst>
              <a:gd name="adj" fmla="val 549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49464" y="309026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Efficiency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0949464" y="3497104"/>
            <a:ext cx="270331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predictors shrunk to zero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28560" y="4349115"/>
            <a:ext cx="631567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Delays driven by service complexity, not overall inefficiency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47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71631"/>
            <a:ext cx="6422231" cy="1952387"/>
          </a:xfrm>
          <a:prstGeom prst="roundRect">
            <a:avLst>
              <a:gd name="adj" fmla="val 4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68" y="277760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2941201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3571280"/>
            <a:ext cx="27849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Recovery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400050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increased, but performance recovered post-2017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2571631"/>
            <a:ext cx="6422231" cy="1952387"/>
          </a:xfrm>
          <a:prstGeom prst="roundRect">
            <a:avLst>
              <a:gd name="adj" fmla="val 4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357" y="277760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4068" y="2941201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357" y="35712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Advantage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20357" y="400050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submissions support faster resolution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722376"/>
            <a:ext cx="6422231" cy="1952387"/>
          </a:xfrm>
          <a:prstGeom prst="roundRect">
            <a:avLst>
              <a:gd name="adj" fmla="val 4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9768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479" y="5091946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9768" y="57220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Outlier Impact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9768" y="6151245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delays inflate average closure time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722376"/>
            <a:ext cx="6422231" cy="1952387"/>
          </a:xfrm>
          <a:prstGeom prst="roundRect">
            <a:avLst>
              <a:gd name="adj" fmla="val 4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20357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4068" y="5091946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0357" y="5722025"/>
            <a:ext cx="25592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Geographic Variation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20357" y="6151245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varies across neighborhoods and services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436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Answer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533061"/>
            <a:ext cx="71726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Answer to Research Question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445079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Boston's 311 system improved timely closure rates after 2017 despite rising demand. Service delays are primarily driven by the complexity of certain request types and departments rather than system-wide inefficiency.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74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Actionable Insights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96691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793790" y="2884646"/>
            <a:ext cx="6422231" cy="1784509"/>
          </a:xfrm>
          <a:prstGeom prst="roundRect">
            <a:avLst>
              <a:gd name="adj" fmla="val 467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907506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3856077" y="301525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15008" y="3701177"/>
            <a:ext cx="32715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 Improvement Efforts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413039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improvement efforts on high-delay service categories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884646"/>
            <a:ext cx="6422231" cy="1784509"/>
          </a:xfrm>
          <a:prstGeom prst="roundRect">
            <a:avLst>
              <a:gd name="adj" fmla="val 467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7239" y="2907506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10476667" y="301525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635597" y="3701177"/>
            <a:ext cx="26741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Streamline Workflows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35597" y="413039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workflows for complex departments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4867513"/>
            <a:ext cx="6422231" cy="1784509"/>
          </a:xfrm>
          <a:prstGeom prst="roundRect">
            <a:avLst>
              <a:gd name="adj" fmla="val 467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650" y="4890373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3856077" y="499812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15008" y="5684044"/>
            <a:ext cx="26062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Leverage Technology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15008" y="611326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digital and mobile reporting tools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14379" y="4867513"/>
            <a:ext cx="6422231" cy="1784509"/>
          </a:xfrm>
          <a:prstGeom prst="roundRect">
            <a:avLst>
              <a:gd name="adj" fmla="val 467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7239" y="4890373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DADB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6667" y="499812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635597" y="5684044"/>
            <a:ext cx="27226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Neighborhoods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635597" y="611326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neighborhoods with persistent delays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4295" y="200120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1811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32440"/>
            <a:ext cx="4215289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773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Collect &amp; Analyze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906560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311 requests and metrics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301811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332440"/>
            <a:ext cx="421540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4773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Insights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906560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patterns and priority areas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301811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332440"/>
            <a:ext cx="4215289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4773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 &amp; Implement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906560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improvements and monitor results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59617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data-driven approach transforms raw service request information into actionable strategies for municipal improvement.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5136952"/>
            <a:ext cx="13042821" cy="95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311 data provides valuable operational insight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delays deserve focused attention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decisions can improve equity and efficiency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4757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46448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Open Data Portal. (2015-2019). 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311 Service Requests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Retrieved from Boston Open Data Portal.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80476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Any questions?</a:t>
            </a:r>
            <a:endParaRPr lang="en-US" sz="3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PresentationFormat>Custom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Inter Light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Krithika Krishna Murthy</dc:creator>
  <cp:lastModifiedBy>Krithika Krishna Murthy</cp:lastModifiedBy>
  <cp:revision>1</cp:revision>
  <dcterms:created xsi:type="dcterms:W3CDTF">2026-02-09T23:26:22Z</dcterms:created>
  <dcterms:modified xsi:type="dcterms:W3CDTF">2026-02-09T23:27:04Z</dcterms:modified>
</cp:coreProperties>
</file>