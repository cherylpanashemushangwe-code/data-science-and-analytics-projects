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741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4114800" y="457200"/>
            <a:ext cx="731520" cy="731520"/>
          </a:xfrm>
          <a:prstGeom prst="ellipse">
            <a:avLst/>
          </a:prstGeom>
          <a:solidFill>
            <a:srgbClr val="C0392B"/>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224528" y="566928"/>
            <a:ext cx="512064" cy="512064"/>
          </a:xfrm>
          <a:prstGeom prst="rect">
            <a:avLst/>
          </a:prstGeom>
        </p:spPr>
      </p:pic>
      <p:sp>
        <p:nvSpPr>
          <p:cNvPr id="4" name="Text 1"/>
          <p:cNvSpPr/>
          <p:nvPr/>
        </p:nvSpPr>
        <p:spPr>
          <a:xfrm>
            <a:off x="457200" y="1463040"/>
            <a:ext cx="8229600" cy="1371600"/>
          </a:xfrm>
          <a:prstGeom prst="rect">
            <a:avLst/>
          </a:prstGeom>
          <a:noFill/>
          <a:ln/>
        </p:spPr>
        <p:txBody>
          <a:bodyPr wrap="square" rtlCol="0" anchor="ctr"/>
          <a:lstStyle/>
          <a:p>
            <a:pPr marL="0" indent="0" algn="ctr">
              <a:lnSpc>
                <a:spcPct val="110000"/>
              </a:lnSpc>
              <a:buNone/>
            </a:pPr>
            <a:r>
              <a:rPr lang="en-US" sz="3600" b="1" dirty="0">
                <a:solidFill>
                  <a:srgbClr val="FFFFFF"/>
                </a:solidFill>
                <a:latin typeface="Georgia" pitchFamily="34" charset="0"/>
                <a:ea typeface="Georgia" pitchFamily="34" charset="-122"/>
                <a:cs typeface="Georgia" pitchFamily="34" charset="-120"/>
              </a:rPr>
              <a:t>Hospital Closure Risk</a:t>
            </a:r>
            <a:endParaRPr lang="en-US" sz="3600" dirty="0"/>
          </a:p>
          <a:p>
            <a:pPr marL="0" indent="0" algn="ctr">
              <a:lnSpc>
                <a:spcPct val="110000"/>
              </a:lnSpc>
              <a:buNone/>
            </a:pPr>
            <a:r>
              <a:rPr lang="en-US" sz="3600" b="1" dirty="0">
                <a:solidFill>
                  <a:srgbClr val="FFFFFF"/>
                </a:solidFill>
                <a:latin typeface="Georgia" pitchFamily="34" charset="0"/>
                <a:ea typeface="Georgia" pitchFamily="34" charset="-122"/>
                <a:cs typeface="Georgia" pitchFamily="34" charset="-120"/>
              </a:rPr>
              <a:t>Prediction Model</a:t>
            </a:r>
            <a:endParaRPr lang="en-US" sz="3600" dirty="0"/>
          </a:p>
        </p:txBody>
      </p:sp>
      <p:sp>
        <p:nvSpPr>
          <p:cNvPr id="5" name="Text 2"/>
          <p:cNvSpPr/>
          <p:nvPr/>
        </p:nvSpPr>
        <p:spPr>
          <a:xfrm>
            <a:off x="914400" y="3017520"/>
            <a:ext cx="7315200" cy="731520"/>
          </a:xfrm>
          <a:prstGeom prst="rect">
            <a:avLst/>
          </a:prstGeom>
          <a:noFill/>
          <a:ln/>
        </p:spPr>
        <p:txBody>
          <a:bodyPr wrap="square" rtlCol="0" anchor="ctr"/>
          <a:lstStyle/>
          <a:p>
            <a:pPr marL="0" indent="0" algn="ctr">
              <a:lnSpc>
                <a:spcPct val="130000"/>
              </a:lnSpc>
              <a:buNone/>
            </a:pPr>
            <a:r>
              <a:rPr lang="en-US" sz="1400" dirty="0">
                <a:solidFill>
                  <a:srgbClr val="CADCFC"/>
                </a:solidFill>
                <a:latin typeface="Calibri" pitchFamily="34" charset="0"/>
                <a:ea typeface="Calibri" pitchFamily="34" charset="-122"/>
                <a:cs typeface="Calibri" pitchFamily="34" charset="-120"/>
              </a:rPr>
              <a:t>Assessing the Impact of the One Big Beautiful Bill Act's</a:t>
            </a:r>
            <a:endParaRPr lang="en-US" sz="1400" dirty="0"/>
          </a:p>
          <a:p>
            <a:pPr marL="0" indent="0" algn="ctr">
              <a:lnSpc>
                <a:spcPct val="130000"/>
              </a:lnSpc>
              <a:buNone/>
            </a:pPr>
            <a:r>
              <a:rPr lang="en-US" sz="1400" dirty="0">
                <a:solidFill>
                  <a:srgbClr val="CADCFC"/>
                </a:solidFill>
                <a:latin typeface="Calibri" pitchFamily="34" charset="0"/>
                <a:ea typeface="Calibri" pitchFamily="34" charset="-122"/>
                <a:cs typeface="Calibri" pitchFamily="34" charset="-120"/>
              </a:rPr>
              <a:t>Medicaid Cuts on U.S. Hospital Financial Viability</a:t>
            </a:r>
            <a:endParaRPr lang="en-US" sz="1400" dirty="0"/>
          </a:p>
        </p:txBody>
      </p:sp>
      <p:sp>
        <p:nvSpPr>
          <p:cNvPr id="6" name="Shape 3"/>
          <p:cNvSpPr/>
          <p:nvPr/>
        </p:nvSpPr>
        <p:spPr>
          <a:xfrm>
            <a:off x="3200400" y="3931920"/>
            <a:ext cx="2743200" cy="27432"/>
          </a:xfrm>
          <a:prstGeom prst="rect">
            <a:avLst/>
          </a:prstGeom>
          <a:solidFill>
            <a:srgbClr val="C0392B"/>
          </a:solidFill>
          <a:ln/>
        </p:spPr>
        <p:txBody>
          <a:bodyPr/>
          <a:lstStyle/>
          <a:p>
            <a:endParaRPr lang="en-US"/>
          </a:p>
        </p:txBody>
      </p:sp>
      <p:sp>
        <p:nvSpPr>
          <p:cNvPr id="7" name="Text 4"/>
          <p:cNvSpPr/>
          <p:nvPr/>
        </p:nvSpPr>
        <p:spPr>
          <a:xfrm>
            <a:off x="1371600" y="4160520"/>
            <a:ext cx="6400800" cy="640080"/>
          </a:xfrm>
          <a:prstGeom prst="rect">
            <a:avLst/>
          </a:prstGeom>
          <a:noFill/>
          <a:ln/>
        </p:spPr>
        <p:txBody>
          <a:bodyPr wrap="square" rtlCol="0" anchor="ctr"/>
          <a:lstStyle/>
          <a:p>
            <a:pPr marL="0" indent="0" algn="ctr">
              <a:lnSpc>
                <a:spcPct val="140000"/>
              </a:lnSpc>
              <a:buNone/>
            </a:pPr>
            <a:r>
              <a:rPr lang="en-US" sz="1200" dirty="0">
                <a:solidFill>
                  <a:srgbClr val="8899AA"/>
                </a:solidFill>
                <a:latin typeface="Calibri" pitchFamily="34" charset="0"/>
                <a:ea typeface="Calibri" pitchFamily="34" charset="-122"/>
                <a:cs typeface="Calibri" pitchFamily="34" charset="-120"/>
              </a:rPr>
              <a:t>Cheryl  |  Northeastern University</a:t>
            </a:r>
            <a:endParaRPr lang="en-US" sz="1200" dirty="0"/>
          </a:p>
          <a:p>
            <a:pPr marL="0" indent="0" algn="ctr">
              <a:lnSpc>
                <a:spcPct val="140000"/>
              </a:lnSpc>
              <a:buNone/>
            </a:pPr>
            <a:r>
              <a:rPr lang="en-US" sz="1200" dirty="0">
                <a:solidFill>
                  <a:srgbClr val="8899AA"/>
                </a:solidFill>
                <a:latin typeface="Calibri" pitchFamily="34" charset="0"/>
                <a:ea typeface="Calibri" pitchFamily="34" charset="-122"/>
                <a:cs typeface="Calibri" pitchFamily="34" charset="-120"/>
              </a:rPr>
              <a:t>Master of Professional Studies in Analytics  |  April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1A2E"/>
          </a:solidFill>
          <a:ln/>
        </p:spPr>
        <p:txBody>
          <a:bodyPr/>
          <a:lstStyle/>
          <a:p>
            <a:endParaRPr lang="en-US"/>
          </a:p>
        </p:txBody>
      </p:sp>
      <p:sp>
        <p:nvSpPr>
          <p:cNvPr id="3" name="Text 1"/>
          <p:cNvSpPr/>
          <p:nvPr/>
        </p:nvSpPr>
        <p:spPr>
          <a:xfrm>
            <a:off x="457200" y="109728"/>
            <a:ext cx="8229600" cy="5486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Agenda</a:t>
            </a:r>
            <a:endParaRPr lang="en-US" sz="2200" dirty="0"/>
          </a:p>
        </p:txBody>
      </p:sp>
      <p:sp>
        <p:nvSpPr>
          <p:cNvPr id="4" name="Shape 2"/>
          <p:cNvSpPr/>
          <p:nvPr/>
        </p:nvSpPr>
        <p:spPr>
          <a:xfrm>
            <a:off x="548640" y="960120"/>
            <a:ext cx="8046720" cy="365760"/>
          </a:xfrm>
          <a:prstGeom prst="rect">
            <a:avLst/>
          </a:prstGeom>
          <a:solidFill>
            <a:srgbClr val="F5F6FA"/>
          </a:solidFill>
          <a:ln/>
        </p:spPr>
        <p:txBody>
          <a:bodyPr/>
          <a:lstStyle/>
          <a:p>
            <a:endParaRPr lang="en-US"/>
          </a:p>
        </p:txBody>
      </p:sp>
      <p:sp>
        <p:nvSpPr>
          <p:cNvPr id="5" name="Text 3"/>
          <p:cNvSpPr/>
          <p:nvPr/>
        </p:nvSpPr>
        <p:spPr>
          <a:xfrm>
            <a:off x="640080" y="960120"/>
            <a:ext cx="320040" cy="365760"/>
          </a:xfrm>
          <a:prstGeom prst="rect">
            <a:avLst/>
          </a:prstGeom>
          <a:noFill/>
          <a:ln/>
        </p:spPr>
        <p:txBody>
          <a:bodyPr wrap="square" rtlCol="0" anchor="ctr"/>
          <a:lstStyle/>
          <a:p>
            <a:pPr marL="0" indent="0" algn="ctr">
              <a:buNone/>
            </a:pPr>
            <a:r>
              <a:rPr lang="en-US" sz="1300" b="1" dirty="0">
                <a:solidFill>
                  <a:srgbClr val="C0392B"/>
                </a:solidFill>
                <a:latin typeface="Georgia" pitchFamily="34" charset="0"/>
                <a:ea typeface="Georgia" pitchFamily="34" charset="-122"/>
                <a:cs typeface="Georgia" pitchFamily="34" charset="-120"/>
              </a:rPr>
              <a:t>1</a:t>
            </a:r>
            <a:endParaRPr lang="en-US" sz="1300" dirty="0"/>
          </a:p>
        </p:txBody>
      </p:sp>
      <p:sp>
        <p:nvSpPr>
          <p:cNvPr id="6" name="Text 4"/>
          <p:cNvSpPr/>
          <p:nvPr/>
        </p:nvSpPr>
        <p:spPr>
          <a:xfrm>
            <a:off x="1051560" y="960120"/>
            <a:ext cx="6400800" cy="36576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Background &amp; Policy Context</a:t>
            </a:r>
            <a:endParaRPr lang="en-US" sz="1300" dirty="0"/>
          </a:p>
        </p:txBody>
      </p:sp>
      <p:sp>
        <p:nvSpPr>
          <p:cNvPr id="7" name="Shape 5"/>
          <p:cNvSpPr/>
          <p:nvPr/>
        </p:nvSpPr>
        <p:spPr>
          <a:xfrm>
            <a:off x="548640" y="1399032"/>
            <a:ext cx="8046720" cy="365760"/>
          </a:xfrm>
          <a:prstGeom prst="rect">
            <a:avLst/>
          </a:prstGeom>
          <a:solidFill>
            <a:srgbClr val="FFFFFF"/>
          </a:solidFill>
          <a:ln/>
        </p:spPr>
        <p:txBody>
          <a:bodyPr/>
          <a:lstStyle/>
          <a:p>
            <a:endParaRPr lang="en-US"/>
          </a:p>
        </p:txBody>
      </p:sp>
      <p:sp>
        <p:nvSpPr>
          <p:cNvPr id="8" name="Text 6"/>
          <p:cNvSpPr/>
          <p:nvPr/>
        </p:nvSpPr>
        <p:spPr>
          <a:xfrm>
            <a:off x="640080" y="1399032"/>
            <a:ext cx="320040" cy="365760"/>
          </a:xfrm>
          <a:prstGeom prst="rect">
            <a:avLst/>
          </a:prstGeom>
          <a:noFill/>
          <a:ln/>
        </p:spPr>
        <p:txBody>
          <a:bodyPr wrap="square" rtlCol="0" anchor="ctr"/>
          <a:lstStyle/>
          <a:p>
            <a:pPr marL="0" indent="0" algn="ctr">
              <a:buNone/>
            </a:pPr>
            <a:r>
              <a:rPr lang="en-US" sz="1300" b="1" dirty="0">
                <a:solidFill>
                  <a:srgbClr val="C0392B"/>
                </a:solidFill>
                <a:latin typeface="Georgia" pitchFamily="34" charset="0"/>
                <a:ea typeface="Georgia" pitchFamily="34" charset="-122"/>
                <a:cs typeface="Georgia" pitchFamily="34" charset="-120"/>
              </a:rPr>
              <a:t>2</a:t>
            </a:r>
            <a:endParaRPr lang="en-US" sz="1300" dirty="0"/>
          </a:p>
        </p:txBody>
      </p:sp>
      <p:sp>
        <p:nvSpPr>
          <p:cNvPr id="9" name="Text 7"/>
          <p:cNvSpPr/>
          <p:nvPr/>
        </p:nvSpPr>
        <p:spPr>
          <a:xfrm>
            <a:off x="1051560" y="1399032"/>
            <a:ext cx="6400800" cy="36576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Dataset Description</a:t>
            </a:r>
            <a:endParaRPr lang="en-US" sz="1300" dirty="0"/>
          </a:p>
        </p:txBody>
      </p:sp>
      <p:sp>
        <p:nvSpPr>
          <p:cNvPr id="10" name="Shape 8"/>
          <p:cNvSpPr/>
          <p:nvPr/>
        </p:nvSpPr>
        <p:spPr>
          <a:xfrm>
            <a:off x="548640" y="1837944"/>
            <a:ext cx="8046720" cy="365760"/>
          </a:xfrm>
          <a:prstGeom prst="rect">
            <a:avLst/>
          </a:prstGeom>
          <a:solidFill>
            <a:srgbClr val="F5F6FA"/>
          </a:solidFill>
          <a:ln/>
        </p:spPr>
        <p:txBody>
          <a:bodyPr/>
          <a:lstStyle/>
          <a:p>
            <a:endParaRPr lang="en-US"/>
          </a:p>
        </p:txBody>
      </p:sp>
      <p:sp>
        <p:nvSpPr>
          <p:cNvPr id="11" name="Text 9"/>
          <p:cNvSpPr/>
          <p:nvPr/>
        </p:nvSpPr>
        <p:spPr>
          <a:xfrm>
            <a:off x="640080" y="1837944"/>
            <a:ext cx="320040" cy="365760"/>
          </a:xfrm>
          <a:prstGeom prst="rect">
            <a:avLst/>
          </a:prstGeom>
          <a:noFill/>
          <a:ln/>
        </p:spPr>
        <p:txBody>
          <a:bodyPr wrap="square" rtlCol="0" anchor="ctr"/>
          <a:lstStyle/>
          <a:p>
            <a:pPr marL="0" indent="0" algn="ctr">
              <a:buNone/>
            </a:pPr>
            <a:r>
              <a:rPr lang="en-US" sz="1300" b="1" dirty="0">
                <a:solidFill>
                  <a:srgbClr val="C0392B"/>
                </a:solidFill>
                <a:latin typeface="Georgia" pitchFamily="34" charset="0"/>
                <a:ea typeface="Georgia" pitchFamily="34" charset="-122"/>
                <a:cs typeface="Georgia" pitchFamily="34" charset="-120"/>
              </a:rPr>
              <a:t>3</a:t>
            </a:r>
            <a:endParaRPr lang="en-US" sz="1300" dirty="0"/>
          </a:p>
        </p:txBody>
      </p:sp>
      <p:sp>
        <p:nvSpPr>
          <p:cNvPr id="12" name="Text 10"/>
          <p:cNvSpPr/>
          <p:nvPr/>
        </p:nvSpPr>
        <p:spPr>
          <a:xfrm>
            <a:off x="1051560" y="1837944"/>
            <a:ext cx="6400800" cy="36576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Exploratory Data Analysis</a:t>
            </a:r>
            <a:endParaRPr lang="en-US" sz="1300" dirty="0"/>
          </a:p>
        </p:txBody>
      </p:sp>
      <p:sp>
        <p:nvSpPr>
          <p:cNvPr id="13" name="Shape 11"/>
          <p:cNvSpPr/>
          <p:nvPr/>
        </p:nvSpPr>
        <p:spPr>
          <a:xfrm>
            <a:off x="548640" y="2276856"/>
            <a:ext cx="8046720" cy="365760"/>
          </a:xfrm>
          <a:prstGeom prst="rect">
            <a:avLst/>
          </a:prstGeom>
          <a:solidFill>
            <a:srgbClr val="FFFFFF"/>
          </a:solidFill>
          <a:ln/>
        </p:spPr>
        <p:txBody>
          <a:bodyPr/>
          <a:lstStyle/>
          <a:p>
            <a:endParaRPr lang="en-US"/>
          </a:p>
        </p:txBody>
      </p:sp>
      <p:sp>
        <p:nvSpPr>
          <p:cNvPr id="14" name="Text 12"/>
          <p:cNvSpPr/>
          <p:nvPr/>
        </p:nvSpPr>
        <p:spPr>
          <a:xfrm>
            <a:off x="640080" y="2276856"/>
            <a:ext cx="320040" cy="365760"/>
          </a:xfrm>
          <a:prstGeom prst="rect">
            <a:avLst/>
          </a:prstGeom>
          <a:noFill/>
          <a:ln/>
        </p:spPr>
        <p:txBody>
          <a:bodyPr wrap="square" rtlCol="0" anchor="ctr"/>
          <a:lstStyle/>
          <a:p>
            <a:pPr marL="0" indent="0" algn="ctr">
              <a:buNone/>
            </a:pPr>
            <a:r>
              <a:rPr lang="en-US" sz="1300" b="1" dirty="0">
                <a:solidFill>
                  <a:srgbClr val="C0392B"/>
                </a:solidFill>
                <a:latin typeface="Georgia" pitchFamily="34" charset="0"/>
                <a:ea typeface="Georgia" pitchFamily="34" charset="-122"/>
                <a:cs typeface="Georgia" pitchFamily="34" charset="-120"/>
              </a:rPr>
              <a:t>4</a:t>
            </a:r>
            <a:endParaRPr lang="en-US" sz="1300" dirty="0"/>
          </a:p>
        </p:txBody>
      </p:sp>
      <p:sp>
        <p:nvSpPr>
          <p:cNvPr id="15" name="Text 13"/>
          <p:cNvSpPr/>
          <p:nvPr/>
        </p:nvSpPr>
        <p:spPr>
          <a:xfrm>
            <a:off x="1051560" y="2276856"/>
            <a:ext cx="6400800" cy="36576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Feature Engineering</a:t>
            </a:r>
            <a:endParaRPr lang="en-US" sz="1300" dirty="0"/>
          </a:p>
        </p:txBody>
      </p:sp>
      <p:sp>
        <p:nvSpPr>
          <p:cNvPr id="16" name="Shape 14"/>
          <p:cNvSpPr/>
          <p:nvPr/>
        </p:nvSpPr>
        <p:spPr>
          <a:xfrm>
            <a:off x="548640" y="2715768"/>
            <a:ext cx="8046720" cy="365760"/>
          </a:xfrm>
          <a:prstGeom prst="rect">
            <a:avLst/>
          </a:prstGeom>
          <a:solidFill>
            <a:srgbClr val="F5F6FA"/>
          </a:solidFill>
          <a:ln/>
        </p:spPr>
        <p:txBody>
          <a:bodyPr/>
          <a:lstStyle/>
          <a:p>
            <a:endParaRPr lang="en-US"/>
          </a:p>
        </p:txBody>
      </p:sp>
      <p:sp>
        <p:nvSpPr>
          <p:cNvPr id="17" name="Text 15"/>
          <p:cNvSpPr/>
          <p:nvPr/>
        </p:nvSpPr>
        <p:spPr>
          <a:xfrm>
            <a:off x="640080" y="2715768"/>
            <a:ext cx="320040" cy="365760"/>
          </a:xfrm>
          <a:prstGeom prst="rect">
            <a:avLst/>
          </a:prstGeom>
          <a:noFill/>
          <a:ln/>
        </p:spPr>
        <p:txBody>
          <a:bodyPr wrap="square" rtlCol="0" anchor="ctr"/>
          <a:lstStyle/>
          <a:p>
            <a:pPr marL="0" indent="0" algn="ctr">
              <a:buNone/>
            </a:pPr>
            <a:r>
              <a:rPr lang="en-US" sz="1300" b="1" dirty="0">
                <a:solidFill>
                  <a:srgbClr val="C0392B"/>
                </a:solidFill>
                <a:latin typeface="Georgia" pitchFamily="34" charset="0"/>
                <a:ea typeface="Georgia" pitchFamily="34" charset="-122"/>
                <a:cs typeface="Georgia" pitchFamily="34" charset="-120"/>
              </a:rPr>
              <a:t>5</a:t>
            </a:r>
            <a:endParaRPr lang="en-US" sz="1300" dirty="0"/>
          </a:p>
        </p:txBody>
      </p:sp>
      <p:sp>
        <p:nvSpPr>
          <p:cNvPr id="18" name="Text 16"/>
          <p:cNvSpPr/>
          <p:nvPr/>
        </p:nvSpPr>
        <p:spPr>
          <a:xfrm>
            <a:off x="1051560" y="2715768"/>
            <a:ext cx="6400800" cy="36576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Risk Classification</a:t>
            </a:r>
            <a:endParaRPr lang="en-US" sz="1300" dirty="0"/>
          </a:p>
        </p:txBody>
      </p:sp>
      <p:sp>
        <p:nvSpPr>
          <p:cNvPr id="19" name="Shape 17"/>
          <p:cNvSpPr/>
          <p:nvPr/>
        </p:nvSpPr>
        <p:spPr>
          <a:xfrm>
            <a:off x="548640" y="3154680"/>
            <a:ext cx="8046720" cy="365760"/>
          </a:xfrm>
          <a:prstGeom prst="rect">
            <a:avLst/>
          </a:prstGeom>
          <a:solidFill>
            <a:srgbClr val="FFFFFF"/>
          </a:solidFill>
          <a:ln/>
        </p:spPr>
        <p:txBody>
          <a:bodyPr/>
          <a:lstStyle/>
          <a:p>
            <a:endParaRPr lang="en-US"/>
          </a:p>
        </p:txBody>
      </p:sp>
      <p:sp>
        <p:nvSpPr>
          <p:cNvPr id="20" name="Text 18"/>
          <p:cNvSpPr/>
          <p:nvPr/>
        </p:nvSpPr>
        <p:spPr>
          <a:xfrm>
            <a:off x="640080" y="3154680"/>
            <a:ext cx="320040" cy="365760"/>
          </a:xfrm>
          <a:prstGeom prst="rect">
            <a:avLst/>
          </a:prstGeom>
          <a:noFill/>
          <a:ln/>
        </p:spPr>
        <p:txBody>
          <a:bodyPr wrap="square" rtlCol="0" anchor="ctr"/>
          <a:lstStyle/>
          <a:p>
            <a:pPr marL="0" indent="0" algn="ctr">
              <a:buNone/>
            </a:pPr>
            <a:r>
              <a:rPr lang="en-US" sz="1300" b="1" dirty="0">
                <a:solidFill>
                  <a:srgbClr val="C0392B"/>
                </a:solidFill>
                <a:latin typeface="Georgia" pitchFamily="34" charset="0"/>
                <a:ea typeface="Georgia" pitchFamily="34" charset="-122"/>
                <a:cs typeface="Georgia" pitchFamily="34" charset="-120"/>
              </a:rPr>
              <a:t>6</a:t>
            </a:r>
            <a:endParaRPr lang="en-US" sz="1300" dirty="0"/>
          </a:p>
        </p:txBody>
      </p:sp>
      <p:sp>
        <p:nvSpPr>
          <p:cNvPr id="21" name="Text 19"/>
          <p:cNvSpPr/>
          <p:nvPr/>
        </p:nvSpPr>
        <p:spPr>
          <a:xfrm>
            <a:off x="1051560" y="3154680"/>
            <a:ext cx="6400800" cy="36576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Model Training &amp; Evaluation</a:t>
            </a:r>
            <a:endParaRPr lang="en-US" sz="1300" dirty="0"/>
          </a:p>
        </p:txBody>
      </p:sp>
      <p:sp>
        <p:nvSpPr>
          <p:cNvPr id="22" name="Shape 20"/>
          <p:cNvSpPr/>
          <p:nvPr/>
        </p:nvSpPr>
        <p:spPr>
          <a:xfrm>
            <a:off x="548640" y="3593592"/>
            <a:ext cx="8046720" cy="365760"/>
          </a:xfrm>
          <a:prstGeom prst="rect">
            <a:avLst/>
          </a:prstGeom>
          <a:solidFill>
            <a:srgbClr val="F5F6FA"/>
          </a:solidFill>
          <a:ln/>
        </p:spPr>
        <p:txBody>
          <a:bodyPr/>
          <a:lstStyle/>
          <a:p>
            <a:endParaRPr lang="en-US"/>
          </a:p>
        </p:txBody>
      </p:sp>
      <p:sp>
        <p:nvSpPr>
          <p:cNvPr id="23" name="Text 21"/>
          <p:cNvSpPr/>
          <p:nvPr/>
        </p:nvSpPr>
        <p:spPr>
          <a:xfrm>
            <a:off x="640080" y="3593592"/>
            <a:ext cx="320040" cy="365760"/>
          </a:xfrm>
          <a:prstGeom prst="rect">
            <a:avLst/>
          </a:prstGeom>
          <a:noFill/>
          <a:ln/>
        </p:spPr>
        <p:txBody>
          <a:bodyPr wrap="square" rtlCol="0" anchor="ctr"/>
          <a:lstStyle/>
          <a:p>
            <a:pPr marL="0" indent="0" algn="ctr">
              <a:buNone/>
            </a:pPr>
            <a:r>
              <a:rPr lang="en-US" sz="1300" b="1" dirty="0">
                <a:solidFill>
                  <a:srgbClr val="C0392B"/>
                </a:solidFill>
                <a:latin typeface="Georgia" pitchFamily="34" charset="0"/>
                <a:ea typeface="Georgia" pitchFamily="34" charset="-122"/>
                <a:cs typeface="Georgia" pitchFamily="34" charset="-120"/>
              </a:rPr>
              <a:t>7</a:t>
            </a:r>
            <a:endParaRPr lang="en-US" sz="1300" dirty="0"/>
          </a:p>
        </p:txBody>
      </p:sp>
      <p:sp>
        <p:nvSpPr>
          <p:cNvPr id="24" name="Text 22"/>
          <p:cNvSpPr/>
          <p:nvPr/>
        </p:nvSpPr>
        <p:spPr>
          <a:xfrm>
            <a:off x="1051560" y="3593592"/>
            <a:ext cx="6400800" cy="36576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Scenario Simulation</a:t>
            </a:r>
            <a:endParaRPr lang="en-US" sz="1300" dirty="0"/>
          </a:p>
        </p:txBody>
      </p:sp>
      <p:sp>
        <p:nvSpPr>
          <p:cNvPr id="25" name="Shape 23"/>
          <p:cNvSpPr/>
          <p:nvPr/>
        </p:nvSpPr>
        <p:spPr>
          <a:xfrm>
            <a:off x="548640" y="4032504"/>
            <a:ext cx="8046720" cy="365760"/>
          </a:xfrm>
          <a:prstGeom prst="rect">
            <a:avLst/>
          </a:prstGeom>
          <a:solidFill>
            <a:srgbClr val="FFFFFF"/>
          </a:solidFill>
          <a:ln/>
        </p:spPr>
        <p:txBody>
          <a:bodyPr/>
          <a:lstStyle/>
          <a:p>
            <a:endParaRPr lang="en-US"/>
          </a:p>
        </p:txBody>
      </p:sp>
      <p:sp>
        <p:nvSpPr>
          <p:cNvPr id="26" name="Text 24"/>
          <p:cNvSpPr/>
          <p:nvPr/>
        </p:nvSpPr>
        <p:spPr>
          <a:xfrm>
            <a:off x="640080" y="4032504"/>
            <a:ext cx="320040" cy="365760"/>
          </a:xfrm>
          <a:prstGeom prst="rect">
            <a:avLst/>
          </a:prstGeom>
          <a:noFill/>
          <a:ln/>
        </p:spPr>
        <p:txBody>
          <a:bodyPr wrap="square" rtlCol="0" anchor="ctr"/>
          <a:lstStyle/>
          <a:p>
            <a:pPr marL="0" indent="0" algn="ctr">
              <a:buNone/>
            </a:pPr>
            <a:r>
              <a:rPr lang="en-US" sz="1300" b="1" dirty="0">
                <a:solidFill>
                  <a:srgbClr val="C0392B"/>
                </a:solidFill>
                <a:latin typeface="Georgia" pitchFamily="34" charset="0"/>
                <a:ea typeface="Georgia" pitchFamily="34" charset="-122"/>
                <a:cs typeface="Georgia" pitchFamily="34" charset="-120"/>
              </a:rPr>
              <a:t>8</a:t>
            </a:r>
            <a:endParaRPr lang="en-US" sz="1300" dirty="0"/>
          </a:p>
        </p:txBody>
      </p:sp>
      <p:sp>
        <p:nvSpPr>
          <p:cNvPr id="27" name="Text 25"/>
          <p:cNvSpPr/>
          <p:nvPr/>
        </p:nvSpPr>
        <p:spPr>
          <a:xfrm>
            <a:off x="1051560" y="4032504"/>
            <a:ext cx="6400800" cy="36576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Geographic Impact Analysis</a:t>
            </a:r>
            <a:endParaRPr lang="en-US" sz="1300" dirty="0"/>
          </a:p>
        </p:txBody>
      </p:sp>
      <p:sp>
        <p:nvSpPr>
          <p:cNvPr id="28" name="Shape 26"/>
          <p:cNvSpPr/>
          <p:nvPr/>
        </p:nvSpPr>
        <p:spPr>
          <a:xfrm>
            <a:off x="548640" y="4471416"/>
            <a:ext cx="8046720" cy="365760"/>
          </a:xfrm>
          <a:prstGeom prst="rect">
            <a:avLst/>
          </a:prstGeom>
          <a:solidFill>
            <a:srgbClr val="F5F6FA"/>
          </a:solidFill>
          <a:ln/>
        </p:spPr>
        <p:txBody>
          <a:bodyPr/>
          <a:lstStyle/>
          <a:p>
            <a:endParaRPr lang="en-US"/>
          </a:p>
        </p:txBody>
      </p:sp>
      <p:sp>
        <p:nvSpPr>
          <p:cNvPr id="29" name="Text 27"/>
          <p:cNvSpPr/>
          <p:nvPr/>
        </p:nvSpPr>
        <p:spPr>
          <a:xfrm>
            <a:off x="640080" y="4471416"/>
            <a:ext cx="320040" cy="365760"/>
          </a:xfrm>
          <a:prstGeom prst="rect">
            <a:avLst/>
          </a:prstGeom>
          <a:noFill/>
          <a:ln/>
        </p:spPr>
        <p:txBody>
          <a:bodyPr wrap="square" rtlCol="0" anchor="ctr"/>
          <a:lstStyle/>
          <a:p>
            <a:pPr marL="0" indent="0" algn="ctr">
              <a:buNone/>
            </a:pPr>
            <a:r>
              <a:rPr lang="en-US" sz="1300" b="1" dirty="0">
                <a:solidFill>
                  <a:srgbClr val="C0392B"/>
                </a:solidFill>
                <a:latin typeface="Georgia" pitchFamily="34" charset="0"/>
                <a:ea typeface="Georgia" pitchFamily="34" charset="-122"/>
                <a:cs typeface="Georgia" pitchFamily="34" charset="-120"/>
              </a:rPr>
              <a:t>9</a:t>
            </a:r>
            <a:endParaRPr lang="en-US" sz="1300" dirty="0"/>
          </a:p>
        </p:txBody>
      </p:sp>
      <p:sp>
        <p:nvSpPr>
          <p:cNvPr id="30" name="Text 28"/>
          <p:cNvSpPr/>
          <p:nvPr/>
        </p:nvSpPr>
        <p:spPr>
          <a:xfrm>
            <a:off x="1051560" y="4471416"/>
            <a:ext cx="6400800" cy="365760"/>
          </a:xfrm>
          <a:prstGeom prst="rect">
            <a:avLst/>
          </a:prstGeom>
          <a:noFill/>
          <a:ln/>
        </p:spPr>
        <p:txBody>
          <a:bodyPr wrap="square" rtlCol="0" anchor="ctr"/>
          <a:lstStyle/>
          <a:p>
            <a:pPr marL="0" indent="0">
              <a:buNone/>
            </a:pPr>
            <a:r>
              <a:rPr lang="en-US" sz="1300" dirty="0">
                <a:solidFill>
                  <a:srgbClr val="2C3E50"/>
                </a:solidFill>
                <a:latin typeface="Calibri" pitchFamily="34" charset="0"/>
                <a:ea typeface="Calibri" pitchFamily="34" charset="-122"/>
                <a:cs typeface="Calibri" pitchFamily="34" charset="-120"/>
              </a:rPr>
              <a:t>Key Findings &amp; Recommendations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4114800" y="914400"/>
            <a:ext cx="640080" cy="640080"/>
          </a:xfrm>
          <a:prstGeom prst="ellipse">
            <a:avLst/>
          </a:prstGeom>
          <a:solidFill>
            <a:srgbClr val="C0392B"/>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210812" y="1010412"/>
            <a:ext cx="448056" cy="448056"/>
          </a:xfrm>
          <a:prstGeom prst="rect">
            <a:avLst/>
          </a:prstGeom>
        </p:spPr>
      </p:pic>
      <p:sp>
        <p:nvSpPr>
          <p:cNvPr id="4" name="Text 1"/>
          <p:cNvSpPr/>
          <p:nvPr/>
        </p:nvSpPr>
        <p:spPr>
          <a:xfrm>
            <a:off x="457200" y="1828800"/>
            <a:ext cx="8229600" cy="822960"/>
          </a:xfrm>
          <a:prstGeom prst="rect">
            <a:avLst/>
          </a:prstGeom>
          <a:noFill/>
          <a:ln/>
        </p:spPr>
        <p:txBody>
          <a:bodyPr wrap="square"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Background &amp; Policy Context</a:t>
            </a:r>
            <a:endParaRPr lang="en-US" sz="3400" dirty="0"/>
          </a:p>
        </p:txBody>
      </p:sp>
      <p:sp>
        <p:nvSpPr>
          <p:cNvPr id="5" name="Text 2"/>
          <p:cNvSpPr/>
          <p:nvPr/>
        </p:nvSpPr>
        <p:spPr>
          <a:xfrm>
            <a:off x="1097280" y="2834640"/>
            <a:ext cx="6949440" cy="457200"/>
          </a:xfrm>
          <a:prstGeom prst="rect">
            <a:avLst/>
          </a:prstGeom>
          <a:noFill/>
          <a:ln/>
        </p:spPr>
        <p:txBody>
          <a:bodyPr wrap="square" rtlCol="0" anchor="ctr"/>
          <a:lstStyle/>
          <a:p>
            <a:pPr marL="0" indent="0" algn="ctr">
              <a:buNone/>
            </a:pPr>
            <a:r>
              <a:rPr lang="en-US" sz="1500" dirty="0">
                <a:solidFill>
                  <a:srgbClr val="CADCFC"/>
                </a:solidFill>
                <a:latin typeface="Calibri" pitchFamily="34" charset="0"/>
                <a:ea typeface="Calibri" pitchFamily="34" charset="-122"/>
                <a:cs typeface="Calibri" pitchFamily="34" charset="-120"/>
              </a:rPr>
              <a:t>The One Big Beautiful Bill Act and its impact on U.S. hospitals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1A2E"/>
          </a:solidFill>
          <a:ln/>
        </p:spPr>
        <p:txBody>
          <a:bodyPr/>
          <a:lstStyle/>
          <a:p>
            <a:endParaRPr lang="en-US"/>
          </a:p>
        </p:txBody>
      </p:sp>
      <p:sp>
        <p:nvSpPr>
          <p:cNvPr id="3" name="Text 1"/>
          <p:cNvSpPr/>
          <p:nvPr/>
        </p:nvSpPr>
        <p:spPr>
          <a:xfrm>
            <a:off x="457200" y="109728"/>
            <a:ext cx="8229600" cy="5486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The OBBBA: Key Facts</a:t>
            </a:r>
            <a:endParaRPr lang="en-US" sz="2200" dirty="0"/>
          </a:p>
        </p:txBody>
      </p:sp>
      <p:sp>
        <p:nvSpPr>
          <p:cNvPr id="4" name="Shape 2"/>
          <p:cNvSpPr/>
          <p:nvPr/>
        </p:nvSpPr>
        <p:spPr>
          <a:xfrm>
            <a:off x="365760" y="960120"/>
            <a:ext cx="2011680" cy="1188720"/>
          </a:xfrm>
          <a:prstGeom prst="rect">
            <a:avLst/>
          </a:prstGeom>
          <a:solidFill>
            <a:srgbClr val="F5F6FA"/>
          </a:solidFill>
          <a:ln/>
          <a:effectLst>
            <a:outerShdw blurRad="50800" dist="25400" dir="8100000" algn="bl" rotWithShape="0">
              <a:srgbClr val="000000">
                <a:alpha val="8000"/>
              </a:srgbClr>
            </a:outerShdw>
          </a:effectLst>
        </p:spPr>
        <p:txBody>
          <a:bodyPr/>
          <a:lstStyle/>
          <a:p>
            <a:endParaRPr lang="en-US"/>
          </a:p>
        </p:txBody>
      </p:sp>
      <p:sp>
        <p:nvSpPr>
          <p:cNvPr id="5" name="Text 3"/>
          <p:cNvSpPr/>
          <p:nvPr/>
        </p:nvSpPr>
        <p:spPr>
          <a:xfrm>
            <a:off x="365760" y="960120"/>
            <a:ext cx="2011680" cy="640080"/>
          </a:xfrm>
          <a:prstGeom prst="rect">
            <a:avLst/>
          </a:prstGeom>
          <a:noFill/>
          <a:ln/>
        </p:spPr>
        <p:txBody>
          <a:bodyPr wrap="square" rtlCol="0" anchor="ctr"/>
          <a:lstStyle/>
          <a:p>
            <a:pPr marL="0" indent="0" algn="ctr">
              <a:buNone/>
            </a:pPr>
            <a:r>
              <a:rPr lang="en-US" sz="3200" b="1" dirty="0">
                <a:solidFill>
                  <a:srgbClr val="C0392B"/>
                </a:solidFill>
                <a:latin typeface="Georgia" pitchFamily="34" charset="0"/>
                <a:ea typeface="Georgia" pitchFamily="34" charset="-122"/>
                <a:cs typeface="Georgia" pitchFamily="34" charset="-120"/>
              </a:rPr>
              <a:t>$1T</a:t>
            </a:r>
            <a:endParaRPr lang="en-US" sz="3200" dirty="0"/>
          </a:p>
        </p:txBody>
      </p:sp>
      <p:sp>
        <p:nvSpPr>
          <p:cNvPr id="6" name="Text 4"/>
          <p:cNvSpPr/>
          <p:nvPr/>
        </p:nvSpPr>
        <p:spPr>
          <a:xfrm>
            <a:off x="365760" y="1600200"/>
            <a:ext cx="2011680" cy="502920"/>
          </a:xfrm>
          <a:prstGeom prst="rect">
            <a:avLst/>
          </a:prstGeom>
          <a:noFill/>
          <a:ln/>
        </p:spPr>
        <p:txBody>
          <a:bodyPr wrap="square" rtlCol="0" anchor="t"/>
          <a:lstStyle/>
          <a:p>
            <a:pPr marL="0" indent="0" algn="ctr">
              <a:buNone/>
            </a:pPr>
            <a:r>
              <a:rPr lang="en-US" sz="1000" dirty="0">
                <a:solidFill>
                  <a:srgbClr val="6C7A89"/>
                </a:solidFill>
                <a:latin typeface="Calibri" pitchFamily="34" charset="0"/>
                <a:ea typeface="Calibri" pitchFamily="34" charset="-122"/>
                <a:cs typeface="Calibri" pitchFamily="34" charset="-120"/>
              </a:rPr>
              <a:t>Medicaid cuts</a:t>
            </a:r>
            <a:endParaRPr lang="en-US" sz="1000" dirty="0"/>
          </a:p>
          <a:p>
            <a:pPr marL="0" indent="0" algn="ctr">
              <a:buNone/>
            </a:pPr>
            <a:r>
              <a:rPr lang="en-US" sz="1000" dirty="0">
                <a:solidFill>
                  <a:srgbClr val="6C7A89"/>
                </a:solidFill>
                <a:latin typeface="Calibri" pitchFamily="34" charset="0"/>
                <a:ea typeface="Calibri" pitchFamily="34" charset="-122"/>
                <a:cs typeface="Calibri" pitchFamily="34" charset="-120"/>
              </a:rPr>
              <a:t>over 10 years</a:t>
            </a:r>
            <a:endParaRPr lang="en-US" sz="1000" dirty="0"/>
          </a:p>
        </p:txBody>
      </p:sp>
      <p:sp>
        <p:nvSpPr>
          <p:cNvPr id="7" name="Shape 5"/>
          <p:cNvSpPr/>
          <p:nvPr/>
        </p:nvSpPr>
        <p:spPr>
          <a:xfrm>
            <a:off x="2560320" y="960120"/>
            <a:ext cx="2011680" cy="1188720"/>
          </a:xfrm>
          <a:prstGeom prst="rect">
            <a:avLst/>
          </a:prstGeom>
          <a:solidFill>
            <a:srgbClr val="F5F6FA"/>
          </a:solidFill>
          <a:ln/>
          <a:effectLst>
            <a:outerShdw blurRad="50800" dist="25400" dir="8100000" algn="bl" rotWithShape="0">
              <a:srgbClr val="000000">
                <a:alpha val="8000"/>
              </a:srgbClr>
            </a:outerShdw>
          </a:effectLst>
        </p:spPr>
        <p:txBody>
          <a:bodyPr/>
          <a:lstStyle/>
          <a:p>
            <a:endParaRPr lang="en-US"/>
          </a:p>
        </p:txBody>
      </p:sp>
      <p:sp>
        <p:nvSpPr>
          <p:cNvPr id="8" name="Text 6"/>
          <p:cNvSpPr/>
          <p:nvPr/>
        </p:nvSpPr>
        <p:spPr>
          <a:xfrm>
            <a:off x="2560320" y="960120"/>
            <a:ext cx="2011680" cy="640080"/>
          </a:xfrm>
          <a:prstGeom prst="rect">
            <a:avLst/>
          </a:prstGeom>
          <a:noFill/>
          <a:ln/>
        </p:spPr>
        <p:txBody>
          <a:bodyPr wrap="square" rtlCol="0" anchor="ctr"/>
          <a:lstStyle/>
          <a:p>
            <a:pPr marL="0" indent="0" algn="ctr">
              <a:buNone/>
            </a:pPr>
            <a:r>
              <a:rPr lang="en-US" sz="3200" b="1" dirty="0">
                <a:solidFill>
                  <a:srgbClr val="C0392B"/>
                </a:solidFill>
                <a:latin typeface="Georgia" pitchFamily="34" charset="0"/>
                <a:ea typeface="Georgia" pitchFamily="34" charset="-122"/>
                <a:cs typeface="Georgia" pitchFamily="34" charset="-120"/>
              </a:rPr>
              <a:t>10.9M</a:t>
            </a:r>
            <a:endParaRPr lang="en-US" sz="3200" dirty="0"/>
          </a:p>
        </p:txBody>
      </p:sp>
      <p:sp>
        <p:nvSpPr>
          <p:cNvPr id="9" name="Text 7"/>
          <p:cNvSpPr/>
          <p:nvPr/>
        </p:nvSpPr>
        <p:spPr>
          <a:xfrm>
            <a:off x="2560320" y="1600200"/>
            <a:ext cx="2011680" cy="502920"/>
          </a:xfrm>
          <a:prstGeom prst="rect">
            <a:avLst/>
          </a:prstGeom>
          <a:noFill/>
          <a:ln/>
        </p:spPr>
        <p:txBody>
          <a:bodyPr wrap="square" rtlCol="0" anchor="t"/>
          <a:lstStyle/>
          <a:p>
            <a:pPr marL="0" indent="0" algn="ctr">
              <a:buNone/>
            </a:pPr>
            <a:r>
              <a:rPr lang="en-US" sz="1000" dirty="0">
                <a:solidFill>
                  <a:srgbClr val="6C7A89"/>
                </a:solidFill>
                <a:latin typeface="Calibri" pitchFamily="34" charset="0"/>
                <a:ea typeface="Calibri" pitchFamily="34" charset="-122"/>
                <a:cs typeface="Calibri" pitchFamily="34" charset="-120"/>
              </a:rPr>
              <a:t>Americans losing</a:t>
            </a:r>
            <a:endParaRPr lang="en-US" sz="1000" dirty="0"/>
          </a:p>
          <a:p>
            <a:pPr marL="0" indent="0" algn="ctr">
              <a:buNone/>
            </a:pPr>
            <a:r>
              <a:rPr lang="en-US" sz="1000" dirty="0">
                <a:solidFill>
                  <a:srgbClr val="6C7A89"/>
                </a:solidFill>
                <a:latin typeface="Calibri" pitchFamily="34" charset="0"/>
                <a:ea typeface="Calibri" pitchFamily="34" charset="-122"/>
                <a:cs typeface="Calibri" pitchFamily="34" charset="-120"/>
              </a:rPr>
              <a:t>health insurance</a:t>
            </a:r>
            <a:endParaRPr lang="en-US" sz="1000" dirty="0"/>
          </a:p>
        </p:txBody>
      </p:sp>
      <p:sp>
        <p:nvSpPr>
          <p:cNvPr id="10" name="Shape 8"/>
          <p:cNvSpPr/>
          <p:nvPr/>
        </p:nvSpPr>
        <p:spPr>
          <a:xfrm>
            <a:off x="4754880" y="960120"/>
            <a:ext cx="2011680" cy="1188720"/>
          </a:xfrm>
          <a:prstGeom prst="rect">
            <a:avLst/>
          </a:prstGeom>
          <a:solidFill>
            <a:srgbClr val="F5F6FA"/>
          </a:solidFill>
          <a:ln/>
          <a:effectLst>
            <a:outerShdw blurRad="50800" dist="25400" dir="8100000" algn="bl" rotWithShape="0">
              <a:srgbClr val="000000">
                <a:alpha val="8000"/>
              </a:srgbClr>
            </a:outerShdw>
          </a:effectLst>
        </p:spPr>
        <p:txBody>
          <a:bodyPr/>
          <a:lstStyle/>
          <a:p>
            <a:endParaRPr lang="en-US"/>
          </a:p>
        </p:txBody>
      </p:sp>
      <p:sp>
        <p:nvSpPr>
          <p:cNvPr id="11" name="Text 9"/>
          <p:cNvSpPr/>
          <p:nvPr/>
        </p:nvSpPr>
        <p:spPr>
          <a:xfrm>
            <a:off x="4754880" y="960120"/>
            <a:ext cx="2011680" cy="640080"/>
          </a:xfrm>
          <a:prstGeom prst="rect">
            <a:avLst/>
          </a:prstGeom>
          <a:noFill/>
          <a:ln/>
        </p:spPr>
        <p:txBody>
          <a:bodyPr wrap="square" rtlCol="0" anchor="ctr"/>
          <a:lstStyle/>
          <a:p>
            <a:pPr marL="0" indent="0" algn="ctr">
              <a:buNone/>
            </a:pPr>
            <a:r>
              <a:rPr lang="en-US" sz="3200" b="1" dirty="0">
                <a:solidFill>
                  <a:srgbClr val="C0392B"/>
                </a:solidFill>
                <a:latin typeface="Georgia" pitchFamily="34" charset="0"/>
                <a:ea typeface="Georgia" pitchFamily="34" charset="-122"/>
                <a:cs typeface="Georgia" pitchFamily="34" charset="-120"/>
              </a:rPr>
              <a:t>300+</a:t>
            </a:r>
            <a:endParaRPr lang="en-US" sz="3200" dirty="0"/>
          </a:p>
        </p:txBody>
      </p:sp>
      <p:sp>
        <p:nvSpPr>
          <p:cNvPr id="12" name="Text 10"/>
          <p:cNvSpPr/>
          <p:nvPr/>
        </p:nvSpPr>
        <p:spPr>
          <a:xfrm>
            <a:off x="4754880" y="1600200"/>
            <a:ext cx="2011680" cy="502920"/>
          </a:xfrm>
          <a:prstGeom prst="rect">
            <a:avLst/>
          </a:prstGeom>
          <a:noFill/>
          <a:ln/>
        </p:spPr>
        <p:txBody>
          <a:bodyPr wrap="square" rtlCol="0" anchor="t"/>
          <a:lstStyle/>
          <a:p>
            <a:pPr marL="0" indent="0" algn="ctr">
              <a:buNone/>
            </a:pPr>
            <a:r>
              <a:rPr lang="en-US" sz="1000" dirty="0">
                <a:solidFill>
                  <a:srgbClr val="6C7A89"/>
                </a:solidFill>
                <a:latin typeface="Calibri" pitchFamily="34" charset="0"/>
                <a:ea typeface="Calibri" pitchFamily="34" charset="-122"/>
                <a:cs typeface="Calibri" pitchFamily="34" charset="-120"/>
              </a:rPr>
              <a:t>Rural hospitals at</a:t>
            </a:r>
            <a:endParaRPr lang="en-US" sz="1000" dirty="0"/>
          </a:p>
          <a:p>
            <a:pPr marL="0" indent="0" algn="ctr">
              <a:buNone/>
            </a:pPr>
            <a:r>
              <a:rPr lang="en-US" sz="1000" dirty="0">
                <a:solidFill>
                  <a:srgbClr val="6C7A89"/>
                </a:solidFill>
                <a:latin typeface="Calibri" pitchFamily="34" charset="0"/>
                <a:ea typeface="Calibri" pitchFamily="34" charset="-122"/>
                <a:cs typeface="Calibri" pitchFamily="34" charset="-120"/>
              </a:rPr>
              <a:t>immediate risk</a:t>
            </a:r>
            <a:endParaRPr lang="en-US" sz="1000" dirty="0"/>
          </a:p>
        </p:txBody>
      </p:sp>
      <p:sp>
        <p:nvSpPr>
          <p:cNvPr id="13" name="Shape 11"/>
          <p:cNvSpPr/>
          <p:nvPr/>
        </p:nvSpPr>
        <p:spPr>
          <a:xfrm>
            <a:off x="6949440" y="960120"/>
            <a:ext cx="2011680" cy="1188720"/>
          </a:xfrm>
          <a:prstGeom prst="rect">
            <a:avLst/>
          </a:prstGeom>
          <a:solidFill>
            <a:srgbClr val="F5F6FA"/>
          </a:solidFill>
          <a:ln/>
          <a:effectLst>
            <a:outerShdw blurRad="50800" dist="25400" dir="8100000" algn="bl" rotWithShape="0">
              <a:srgbClr val="000000">
                <a:alpha val="8000"/>
              </a:srgbClr>
            </a:outerShdw>
          </a:effectLst>
        </p:spPr>
        <p:txBody>
          <a:bodyPr/>
          <a:lstStyle/>
          <a:p>
            <a:endParaRPr lang="en-US"/>
          </a:p>
        </p:txBody>
      </p:sp>
      <p:sp>
        <p:nvSpPr>
          <p:cNvPr id="14" name="Text 12"/>
          <p:cNvSpPr/>
          <p:nvPr/>
        </p:nvSpPr>
        <p:spPr>
          <a:xfrm>
            <a:off x="6949440" y="960120"/>
            <a:ext cx="2011680" cy="640080"/>
          </a:xfrm>
          <a:prstGeom prst="rect">
            <a:avLst/>
          </a:prstGeom>
          <a:noFill/>
          <a:ln/>
        </p:spPr>
        <p:txBody>
          <a:bodyPr wrap="square" rtlCol="0" anchor="ctr"/>
          <a:lstStyle/>
          <a:p>
            <a:pPr marL="0" indent="0" algn="ctr">
              <a:buNone/>
            </a:pPr>
            <a:r>
              <a:rPr lang="en-US" sz="3200" b="1" dirty="0">
                <a:solidFill>
                  <a:srgbClr val="C0392B"/>
                </a:solidFill>
                <a:latin typeface="Georgia" pitchFamily="34" charset="0"/>
                <a:ea typeface="Georgia" pitchFamily="34" charset="-122"/>
                <a:cs typeface="Georgia" pitchFamily="34" charset="-120"/>
              </a:rPr>
              <a:t>44%</a:t>
            </a:r>
            <a:endParaRPr lang="en-US" sz="3200" dirty="0"/>
          </a:p>
        </p:txBody>
      </p:sp>
      <p:sp>
        <p:nvSpPr>
          <p:cNvPr id="15" name="Text 13"/>
          <p:cNvSpPr/>
          <p:nvPr/>
        </p:nvSpPr>
        <p:spPr>
          <a:xfrm>
            <a:off x="6949440" y="1600200"/>
            <a:ext cx="2011680" cy="502920"/>
          </a:xfrm>
          <a:prstGeom prst="rect">
            <a:avLst/>
          </a:prstGeom>
          <a:noFill/>
          <a:ln/>
        </p:spPr>
        <p:txBody>
          <a:bodyPr wrap="square" rtlCol="0" anchor="t"/>
          <a:lstStyle/>
          <a:p>
            <a:pPr marL="0" indent="0" algn="ctr">
              <a:buNone/>
            </a:pPr>
            <a:r>
              <a:rPr lang="en-US" sz="1000" dirty="0">
                <a:solidFill>
                  <a:srgbClr val="6C7A89"/>
                </a:solidFill>
                <a:latin typeface="Calibri" pitchFamily="34" charset="0"/>
                <a:ea typeface="Calibri" pitchFamily="34" charset="-122"/>
                <a:cs typeface="Calibri" pitchFamily="34" charset="-120"/>
              </a:rPr>
              <a:t>Rural hospitals with</a:t>
            </a:r>
            <a:endParaRPr lang="en-US" sz="1000" dirty="0"/>
          </a:p>
          <a:p>
            <a:pPr marL="0" indent="0" algn="ctr">
              <a:buNone/>
            </a:pPr>
            <a:r>
              <a:rPr lang="en-US" sz="1000" dirty="0">
                <a:solidFill>
                  <a:srgbClr val="6C7A89"/>
                </a:solidFill>
                <a:latin typeface="Calibri" pitchFamily="34" charset="0"/>
                <a:ea typeface="Calibri" pitchFamily="34" charset="-122"/>
                <a:cs typeface="Calibri" pitchFamily="34" charset="-120"/>
              </a:rPr>
              <a:t>negative margins</a:t>
            </a:r>
            <a:endParaRPr lang="en-US" sz="1000" dirty="0"/>
          </a:p>
        </p:txBody>
      </p:sp>
      <p:sp>
        <p:nvSpPr>
          <p:cNvPr id="16" name="Text 14"/>
          <p:cNvSpPr/>
          <p:nvPr/>
        </p:nvSpPr>
        <p:spPr>
          <a:xfrm>
            <a:off x="457200" y="2377440"/>
            <a:ext cx="8229600" cy="2560320"/>
          </a:xfrm>
          <a:prstGeom prst="rect">
            <a:avLst/>
          </a:prstGeom>
          <a:noFill/>
          <a:ln/>
        </p:spPr>
        <p:txBody>
          <a:bodyPr wrap="square" rtlCol="0" anchor="ctr"/>
          <a:lstStyle/>
          <a:p>
            <a:pPr marL="342900" indent="-342900">
              <a:spcAft>
                <a:spcPts val="600"/>
              </a:spcAft>
              <a:buSzPct val="100000"/>
              <a:buChar char="•"/>
            </a:pPr>
            <a:r>
              <a:rPr lang="en-US" sz="1200" dirty="0">
                <a:solidFill>
                  <a:srgbClr val="2C3E50"/>
                </a:solidFill>
                <a:latin typeface="Calibri" pitchFamily="34" charset="0"/>
                <a:ea typeface="Calibri" pitchFamily="34" charset="-122"/>
                <a:cs typeface="Calibri" pitchFamily="34" charset="-120"/>
              </a:rPr>
              <a:t>Signed into law July 4, 2025 (House 218-214, Senate 51-50 with VP tie-break)</a:t>
            </a:r>
            <a:endParaRPr lang="en-US" sz="1200" dirty="0"/>
          </a:p>
          <a:p>
            <a:pPr marL="342900" indent="-342900">
              <a:spcAft>
                <a:spcPts val="600"/>
              </a:spcAft>
              <a:buSzPct val="100000"/>
              <a:buChar char="•"/>
            </a:pPr>
            <a:r>
              <a:rPr lang="en-US" sz="1200" dirty="0">
                <a:solidFill>
                  <a:srgbClr val="2C3E50"/>
                </a:solidFill>
                <a:latin typeface="Calibri" pitchFamily="34" charset="0"/>
                <a:ea typeface="Calibri" pitchFamily="34" charset="-122"/>
                <a:cs typeface="Calibri" pitchFamily="34" charset="-120"/>
              </a:rPr>
              <a:t>New work requirements will cause Medicaid enrollment declines across 40 expansion states</a:t>
            </a:r>
            <a:endParaRPr lang="en-US" sz="1200" dirty="0"/>
          </a:p>
          <a:p>
            <a:pPr marL="342900" indent="-342900">
              <a:spcAft>
                <a:spcPts val="600"/>
              </a:spcAft>
              <a:buSzPct val="100000"/>
              <a:buChar char="•"/>
            </a:pPr>
            <a:r>
              <a:rPr lang="en-US" sz="1200" dirty="0">
                <a:solidFill>
                  <a:srgbClr val="2C3E50"/>
                </a:solidFill>
                <a:latin typeface="Calibri" pitchFamily="34" charset="0"/>
                <a:ea typeface="Calibri" pitchFamily="34" charset="-122"/>
                <a:cs typeface="Calibri" pitchFamily="34" charset="-120"/>
              </a:rPr>
              <a:t>States restricted from using provider taxes to fund Medicaid - cutting hospital reimbursement directly</a:t>
            </a:r>
            <a:endParaRPr lang="en-US" sz="1200" dirty="0"/>
          </a:p>
          <a:p>
            <a:pPr marL="342900" indent="-342900">
              <a:spcAft>
                <a:spcPts val="600"/>
              </a:spcAft>
              <a:buSzPct val="100000"/>
              <a:buChar char="•"/>
            </a:pPr>
            <a:r>
              <a:rPr lang="en-US" sz="1200" dirty="0">
                <a:solidFill>
                  <a:srgbClr val="2C3E50"/>
                </a:solidFill>
                <a:latin typeface="Calibri" pitchFamily="34" charset="0"/>
                <a:ea typeface="Calibri" pitchFamily="34" charset="-122"/>
                <a:cs typeface="Calibri" pitchFamily="34" charset="-120"/>
              </a:rPr>
              <a:t>Eligibility checks doubled from annual to every 6 months - administrative disenrollment will increase</a:t>
            </a:r>
            <a:endParaRPr lang="en-US" sz="1200" dirty="0"/>
          </a:p>
          <a:p>
            <a:pPr marL="342900" indent="-342900">
              <a:spcAft>
                <a:spcPts val="600"/>
              </a:spcAft>
              <a:buSzPct val="100000"/>
              <a:buChar char="•"/>
            </a:pPr>
            <a:r>
              <a:rPr lang="en-US" sz="1200" dirty="0">
                <a:solidFill>
                  <a:srgbClr val="2C3E50"/>
                </a:solidFill>
                <a:latin typeface="Calibri" pitchFamily="34" charset="0"/>
                <a:ea typeface="Calibri" pitchFamily="34" charset="-122"/>
                <a:cs typeface="Calibri" pitchFamily="34" charset="-120"/>
              </a:rPr>
              <a:t>EMTALA still requires hospitals to treat all patients - costs shift to uncompensated care</a:t>
            </a:r>
            <a:endParaRPr lang="en-US" sz="1200" dirty="0"/>
          </a:p>
          <a:p>
            <a:pPr marL="342900" indent="-342900">
              <a:spcAft>
                <a:spcPts val="600"/>
              </a:spcAft>
              <a:buSzPct val="100000"/>
              <a:buChar char="•"/>
            </a:pPr>
            <a:r>
              <a:rPr lang="en-US" sz="1200" dirty="0">
                <a:solidFill>
                  <a:srgbClr val="2C3E50"/>
                </a:solidFill>
                <a:latin typeface="Calibri" pitchFamily="34" charset="0"/>
                <a:ea typeface="Calibri" pitchFamily="34" charset="-122"/>
                <a:cs typeface="Calibri" pitchFamily="34" charset="-120"/>
              </a:rPr>
              <a:t>$50B Rural Health Fund provides only ~$4.5M/hospital/year for 5 years - a fraction of projected losses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4114800" y="914400"/>
            <a:ext cx="640080" cy="640080"/>
          </a:xfrm>
          <a:prstGeom prst="ellipse">
            <a:avLst/>
          </a:prstGeom>
          <a:solidFill>
            <a:srgbClr val="C0392B"/>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210812" y="1010412"/>
            <a:ext cx="448056" cy="448056"/>
          </a:xfrm>
          <a:prstGeom prst="rect">
            <a:avLst/>
          </a:prstGeom>
        </p:spPr>
      </p:pic>
      <p:sp>
        <p:nvSpPr>
          <p:cNvPr id="4" name="Text 1"/>
          <p:cNvSpPr/>
          <p:nvPr/>
        </p:nvSpPr>
        <p:spPr>
          <a:xfrm>
            <a:off x="457200" y="1828800"/>
            <a:ext cx="8229600" cy="822960"/>
          </a:xfrm>
          <a:prstGeom prst="rect">
            <a:avLst/>
          </a:prstGeom>
          <a:noFill/>
          <a:ln/>
        </p:spPr>
        <p:txBody>
          <a:bodyPr wrap="square"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Dataset Description</a:t>
            </a:r>
            <a:endParaRPr lang="en-US" sz="3400" dirty="0"/>
          </a:p>
        </p:txBody>
      </p:sp>
      <p:sp>
        <p:nvSpPr>
          <p:cNvPr id="5" name="Text 2"/>
          <p:cNvSpPr/>
          <p:nvPr/>
        </p:nvSpPr>
        <p:spPr>
          <a:xfrm>
            <a:off x="1097280" y="2834640"/>
            <a:ext cx="6949440" cy="457200"/>
          </a:xfrm>
          <a:prstGeom prst="rect">
            <a:avLst/>
          </a:prstGeom>
          <a:noFill/>
          <a:ln/>
        </p:spPr>
        <p:txBody>
          <a:bodyPr wrap="square" rtlCol="0" anchor="ctr"/>
          <a:lstStyle/>
          <a:p>
            <a:pPr marL="0" indent="0" algn="ctr">
              <a:buNone/>
            </a:pPr>
            <a:r>
              <a:rPr lang="en-US" sz="1500" dirty="0">
                <a:solidFill>
                  <a:srgbClr val="CADCFC"/>
                </a:solidFill>
                <a:latin typeface="Calibri" pitchFamily="34" charset="0"/>
                <a:ea typeface="Calibri" pitchFamily="34" charset="-122"/>
                <a:cs typeface="Calibri" pitchFamily="34" charset="-120"/>
              </a:rPr>
              <a:t>NASHP Hospital Cost Tool - 4,685 hospitals, 121 variables, 5 years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1A2E"/>
          </a:solidFill>
          <a:ln/>
        </p:spPr>
        <p:txBody>
          <a:bodyPr/>
          <a:lstStyle/>
          <a:p>
            <a:endParaRPr lang="en-US"/>
          </a:p>
        </p:txBody>
      </p:sp>
      <p:sp>
        <p:nvSpPr>
          <p:cNvPr id="3" name="Text 1"/>
          <p:cNvSpPr/>
          <p:nvPr/>
        </p:nvSpPr>
        <p:spPr>
          <a:xfrm>
            <a:off x="457200" y="109728"/>
            <a:ext cx="8229600" cy="5486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Dataset Overview</a:t>
            </a:r>
            <a:endParaRPr lang="en-US" sz="2200" dirty="0"/>
          </a:p>
        </p:txBody>
      </p:sp>
      <p:sp>
        <p:nvSpPr>
          <p:cNvPr id="4" name="Shape 2"/>
          <p:cNvSpPr/>
          <p:nvPr/>
        </p:nvSpPr>
        <p:spPr>
          <a:xfrm>
            <a:off x="365760" y="960120"/>
            <a:ext cx="2011680" cy="1005840"/>
          </a:xfrm>
          <a:prstGeom prst="rect">
            <a:avLst/>
          </a:prstGeom>
          <a:solidFill>
            <a:srgbClr val="F5F6FA"/>
          </a:solidFill>
          <a:ln/>
          <a:effectLst>
            <a:outerShdw blurRad="50800" dist="25400" dir="8100000" algn="bl" rotWithShape="0">
              <a:srgbClr val="000000">
                <a:alpha val="8000"/>
              </a:srgbClr>
            </a:outerShdw>
          </a:effectLst>
        </p:spPr>
        <p:txBody>
          <a:bodyPr/>
          <a:lstStyle/>
          <a:p>
            <a:endParaRPr lang="en-US"/>
          </a:p>
        </p:txBody>
      </p:sp>
      <p:sp>
        <p:nvSpPr>
          <p:cNvPr id="5" name="Text 3"/>
          <p:cNvSpPr/>
          <p:nvPr/>
        </p:nvSpPr>
        <p:spPr>
          <a:xfrm>
            <a:off x="365760" y="960120"/>
            <a:ext cx="2011680" cy="548640"/>
          </a:xfrm>
          <a:prstGeom prst="rect">
            <a:avLst/>
          </a:prstGeom>
          <a:noFill/>
          <a:ln/>
        </p:spPr>
        <p:txBody>
          <a:bodyPr wrap="square" rtlCol="0" anchor="ctr"/>
          <a:lstStyle/>
          <a:p>
            <a:pPr marL="0" indent="0" algn="ctr">
              <a:buNone/>
            </a:pPr>
            <a:r>
              <a:rPr lang="en-US" sz="2600" b="1" dirty="0">
                <a:solidFill>
                  <a:srgbClr val="1A1A2E"/>
                </a:solidFill>
                <a:latin typeface="Georgia" pitchFamily="34" charset="0"/>
                <a:ea typeface="Georgia" pitchFamily="34" charset="-122"/>
                <a:cs typeface="Georgia" pitchFamily="34" charset="-120"/>
              </a:rPr>
              <a:t>22,508</a:t>
            </a:r>
            <a:endParaRPr lang="en-US" sz="2600" dirty="0"/>
          </a:p>
        </p:txBody>
      </p:sp>
      <p:sp>
        <p:nvSpPr>
          <p:cNvPr id="6" name="Text 4"/>
          <p:cNvSpPr/>
          <p:nvPr/>
        </p:nvSpPr>
        <p:spPr>
          <a:xfrm>
            <a:off x="365760" y="1463040"/>
            <a:ext cx="2011680" cy="365760"/>
          </a:xfrm>
          <a:prstGeom prst="rect">
            <a:avLst/>
          </a:prstGeom>
          <a:noFill/>
          <a:ln/>
        </p:spPr>
        <p:txBody>
          <a:bodyPr wrap="square" rtlCol="0" anchor="ctr"/>
          <a:lstStyle/>
          <a:p>
            <a:pPr marL="0" indent="0" algn="ctr">
              <a:buNone/>
            </a:pPr>
            <a:r>
              <a:rPr lang="en-US" sz="1000" dirty="0">
                <a:solidFill>
                  <a:srgbClr val="6C7A89"/>
                </a:solidFill>
                <a:latin typeface="Calibri" pitchFamily="34" charset="0"/>
                <a:ea typeface="Calibri" pitchFamily="34" charset="-122"/>
                <a:cs typeface="Calibri" pitchFamily="34" charset="-120"/>
              </a:rPr>
              <a:t>Total records</a:t>
            </a:r>
            <a:endParaRPr lang="en-US" sz="1000" dirty="0"/>
          </a:p>
        </p:txBody>
      </p:sp>
      <p:sp>
        <p:nvSpPr>
          <p:cNvPr id="7" name="Shape 5"/>
          <p:cNvSpPr/>
          <p:nvPr/>
        </p:nvSpPr>
        <p:spPr>
          <a:xfrm>
            <a:off x="2560320" y="960120"/>
            <a:ext cx="2011680" cy="1005840"/>
          </a:xfrm>
          <a:prstGeom prst="rect">
            <a:avLst/>
          </a:prstGeom>
          <a:solidFill>
            <a:srgbClr val="F5F6FA"/>
          </a:solidFill>
          <a:ln/>
          <a:effectLst>
            <a:outerShdw blurRad="50800" dist="25400" dir="8100000" algn="bl" rotWithShape="0">
              <a:srgbClr val="000000">
                <a:alpha val="8000"/>
              </a:srgbClr>
            </a:outerShdw>
          </a:effectLst>
        </p:spPr>
        <p:txBody>
          <a:bodyPr/>
          <a:lstStyle/>
          <a:p>
            <a:endParaRPr lang="en-US"/>
          </a:p>
        </p:txBody>
      </p:sp>
      <p:sp>
        <p:nvSpPr>
          <p:cNvPr id="8" name="Text 6"/>
          <p:cNvSpPr/>
          <p:nvPr/>
        </p:nvSpPr>
        <p:spPr>
          <a:xfrm>
            <a:off x="2560320" y="960120"/>
            <a:ext cx="2011680" cy="548640"/>
          </a:xfrm>
          <a:prstGeom prst="rect">
            <a:avLst/>
          </a:prstGeom>
          <a:noFill/>
          <a:ln/>
        </p:spPr>
        <p:txBody>
          <a:bodyPr wrap="square" rtlCol="0" anchor="ctr"/>
          <a:lstStyle/>
          <a:p>
            <a:pPr marL="0" indent="0" algn="ctr">
              <a:buNone/>
            </a:pPr>
            <a:r>
              <a:rPr lang="en-US" sz="2600" b="1" dirty="0">
                <a:solidFill>
                  <a:srgbClr val="1A1A2E"/>
                </a:solidFill>
                <a:latin typeface="Georgia" pitchFamily="34" charset="0"/>
                <a:ea typeface="Georgia" pitchFamily="34" charset="-122"/>
                <a:cs typeface="Georgia" pitchFamily="34" charset="-120"/>
              </a:rPr>
              <a:t>4,685</a:t>
            </a:r>
            <a:endParaRPr lang="en-US" sz="2600" dirty="0"/>
          </a:p>
        </p:txBody>
      </p:sp>
      <p:sp>
        <p:nvSpPr>
          <p:cNvPr id="9" name="Text 7"/>
          <p:cNvSpPr/>
          <p:nvPr/>
        </p:nvSpPr>
        <p:spPr>
          <a:xfrm>
            <a:off x="2560320" y="1463040"/>
            <a:ext cx="2011680" cy="365760"/>
          </a:xfrm>
          <a:prstGeom prst="rect">
            <a:avLst/>
          </a:prstGeom>
          <a:noFill/>
          <a:ln/>
        </p:spPr>
        <p:txBody>
          <a:bodyPr wrap="square" rtlCol="0" anchor="ctr"/>
          <a:lstStyle/>
          <a:p>
            <a:pPr marL="0" indent="0" algn="ctr">
              <a:buNone/>
            </a:pPr>
            <a:r>
              <a:rPr lang="en-US" sz="1000" dirty="0">
                <a:solidFill>
                  <a:srgbClr val="6C7A89"/>
                </a:solidFill>
                <a:latin typeface="Calibri" pitchFamily="34" charset="0"/>
                <a:ea typeface="Calibri" pitchFamily="34" charset="-122"/>
                <a:cs typeface="Calibri" pitchFamily="34" charset="-120"/>
              </a:rPr>
              <a:t>Unique hospitals</a:t>
            </a:r>
            <a:endParaRPr lang="en-US" sz="1000" dirty="0"/>
          </a:p>
        </p:txBody>
      </p:sp>
      <p:sp>
        <p:nvSpPr>
          <p:cNvPr id="10" name="Shape 8"/>
          <p:cNvSpPr/>
          <p:nvPr/>
        </p:nvSpPr>
        <p:spPr>
          <a:xfrm>
            <a:off x="4754880" y="960120"/>
            <a:ext cx="2011680" cy="1005840"/>
          </a:xfrm>
          <a:prstGeom prst="rect">
            <a:avLst/>
          </a:prstGeom>
          <a:solidFill>
            <a:srgbClr val="F5F6FA"/>
          </a:solidFill>
          <a:ln/>
          <a:effectLst>
            <a:outerShdw blurRad="50800" dist="25400" dir="8100000" algn="bl" rotWithShape="0">
              <a:srgbClr val="000000">
                <a:alpha val="8000"/>
              </a:srgbClr>
            </a:outerShdw>
          </a:effectLst>
        </p:spPr>
        <p:txBody>
          <a:bodyPr/>
          <a:lstStyle/>
          <a:p>
            <a:endParaRPr lang="en-US"/>
          </a:p>
        </p:txBody>
      </p:sp>
      <p:sp>
        <p:nvSpPr>
          <p:cNvPr id="11" name="Text 9"/>
          <p:cNvSpPr/>
          <p:nvPr/>
        </p:nvSpPr>
        <p:spPr>
          <a:xfrm>
            <a:off x="4754880" y="960120"/>
            <a:ext cx="2011680" cy="548640"/>
          </a:xfrm>
          <a:prstGeom prst="rect">
            <a:avLst/>
          </a:prstGeom>
          <a:noFill/>
          <a:ln/>
        </p:spPr>
        <p:txBody>
          <a:bodyPr wrap="square" rtlCol="0" anchor="ctr"/>
          <a:lstStyle/>
          <a:p>
            <a:pPr marL="0" indent="0" algn="ctr">
              <a:buNone/>
            </a:pPr>
            <a:r>
              <a:rPr lang="en-US" sz="2600" b="1" dirty="0">
                <a:solidFill>
                  <a:srgbClr val="1A1A2E"/>
                </a:solidFill>
                <a:latin typeface="Georgia" pitchFamily="34" charset="0"/>
                <a:ea typeface="Georgia" pitchFamily="34" charset="-122"/>
                <a:cs typeface="Georgia" pitchFamily="34" charset="-120"/>
              </a:rPr>
              <a:t>121</a:t>
            </a:r>
            <a:endParaRPr lang="en-US" sz="2600" dirty="0"/>
          </a:p>
        </p:txBody>
      </p:sp>
      <p:sp>
        <p:nvSpPr>
          <p:cNvPr id="12" name="Text 10"/>
          <p:cNvSpPr/>
          <p:nvPr/>
        </p:nvSpPr>
        <p:spPr>
          <a:xfrm>
            <a:off x="4754880" y="1463040"/>
            <a:ext cx="2011680" cy="365760"/>
          </a:xfrm>
          <a:prstGeom prst="rect">
            <a:avLst/>
          </a:prstGeom>
          <a:noFill/>
          <a:ln/>
        </p:spPr>
        <p:txBody>
          <a:bodyPr wrap="square" rtlCol="0" anchor="ctr"/>
          <a:lstStyle/>
          <a:p>
            <a:pPr marL="0" indent="0" algn="ctr">
              <a:buNone/>
            </a:pPr>
            <a:r>
              <a:rPr lang="en-US" sz="1000" dirty="0">
                <a:solidFill>
                  <a:srgbClr val="6C7A89"/>
                </a:solidFill>
                <a:latin typeface="Calibri" pitchFamily="34" charset="0"/>
                <a:ea typeface="Calibri" pitchFamily="34" charset="-122"/>
                <a:cs typeface="Calibri" pitchFamily="34" charset="-120"/>
              </a:rPr>
              <a:t>Variables</a:t>
            </a:r>
            <a:endParaRPr lang="en-US" sz="1000" dirty="0"/>
          </a:p>
        </p:txBody>
      </p:sp>
      <p:sp>
        <p:nvSpPr>
          <p:cNvPr id="13" name="Shape 11"/>
          <p:cNvSpPr/>
          <p:nvPr/>
        </p:nvSpPr>
        <p:spPr>
          <a:xfrm>
            <a:off x="6949440" y="960120"/>
            <a:ext cx="2011680" cy="1005840"/>
          </a:xfrm>
          <a:prstGeom prst="rect">
            <a:avLst/>
          </a:prstGeom>
          <a:solidFill>
            <a:srgbClr val="F5F6FA"/>
          </a:solidFill>
          <a:ln/>
          <a:effectLst>
            <a:outerShdw blurRad="50800" dist="25400" dir="8100000" algn="bl" rotWithShape="0">
              <a:srgbClr val="000000">
                <a:alpha val="8000"/>
              </a:srgbClr>
            </a:outerShdw>
          </a:effectLst>
        </p:spPr>
        <p:txBody>
          <a:bodyPr/>
          <a:lstStyle/>
          <a:p>
            <a:endParaRPr lang="en-US"/>
          </a:p>
        </p:txBody>
      </p:sp>
      <p:sp>
        <p:nvSpPr>
          <p:cNvPr id="14" name="Text 12"/>
          <p:cNvSpPr/>
          <p:nvPr/>
        </p:nvSpPr>
        <p:spPr>
          <a:xfrm>
            <a:off x="6949440" y="960120"/>
            <a:ext cx="2011680" cy="548640"/>
          </a:xfrm>
          <a:prstGeom prst="rect">
            <a:avLst/>
          </a:prstGeom>
          <a:noFill/>
          <a:ln/>
        </p:spPr>
        <p:txBody>
          <a:bodyPr wrap="square" rtlCol="0" anchor="ctr"/>
          <a:lstStyle/>
          <a:p>
            <a:pPr marL="0" indent="0" algn="ctr">
              <a:buNone/>
            </a:pPr>
            <a:r>
              <a:rPr lang="en-US" sz="2600" b="1" dirty="0">
                <a:solidFill>
                  <a:srgbClr val="1A1A2E"/>
                </a:solidFill>
                <a:latin typeface="Georgia" pitchFamily="34" charset="0"/>
                <a:ea typeface="Georgia" pitchFamily="34" charset="-122"/>
                <a:cs typeface="Georgia" pitchFamily="34" charset="-120"/>
              </a:rPr>
              <a:t>5 Years</a:t>
            </a:r>
            <a:endParaRPr lang="en-US" sz="2600" dirty="0"/>
          </a:p>
        </p:txBody>
      </p:sp>
      <p:sp>
        <p:nvSpPr>
          <p:cNvPr id="15" name="Text 13"/>
          <p:cNvSpPr/>
          <p:nvPr/>
        </p:nvSpPr>
        <p:spPr>
          <a:xfrm>
            <a:off x="6949440" y="1463040"/>
            <a:ext cx="2011680" cy="365760"/>
          </a:xfrm>
          <a:prstGeom prst="rect">
            <a:avLst/>
          </a:prstGeom>
          <a:noFill/>
          <a:ln/>
        </p:spPr>
        <p:txBody>
          <a:bodyPr wrap="square" rtlCol="0" anchor="ctr"/>
          <a:lstStyle/>
          <a:p>
            <a:pPr marL="0" indent="0" algn="ctr">
              <a:buNone/>
            </a:pPr>
            <a:r>
              <a:rPr lang="en-US" sz="1000" dirty="0">
                <a:solidFill>
                  <a:srgbClr val="6C7A89"/>
                </a:solidFill>
                <a:latin typeface="Calibri" pitchFamily="34" charset="0"/>
                <a:ea typeface="Calibri" pitchFamily="34" charset="-122"/>
                <a:cs typeface="Calibri" pitchFamily="34" charset="-120"/>
              </a:rPr>
              <a:t>2020-2024</a:t>
            </a:r>
            <a:endParaRPr lang="en-US" sz="1000" dirty="0"/>
          </a:p>
        </p:txBody>
      </p:sp>
      <p:sp>
        <p:nvSpPr>
          <p:cNvPr id="16" name="Text 14"/>
          <p:cNvSpPr/>
          <p:nvPr/>
        </p:nvSpPr>
        <p:spPr>
          <a:xfrm>
            <a:off x="457200" y="2148840"/>
            <a:ext cx="8229600" cy="548640"/>
          </a:xfrm>
          <a:prstGeom prst="rect">
            <a:avLst/>
          </a:prstGeom>
          <a:noFill/>
          <a:ln/>
        </p:spPr>
        <p:txBody>
          <a:bodyPr wrap="square" rtlCol="0" anchor="ctr"/>
          <a:lstStyle/>
          <a:p>
            <a:pPr marL="0" indent="0">
              <a:buNone/>
            </a:pPr>
            <a:r>
              <a:rPr lang="en-US" sz="1100" i="1" dirty="0">
                <a:solidFill>
                  <a:srgbClr val="6C7A89"/>
                </a:solidFill>
                <a:latin typeface="Calibri" pitchFamily="34" charset="0"/>
                <a:ea typeface="Calibri" pitchFamily="34" charset="-122"/>
                <a:cs typeface="Calibri" pitchFamily="34" charset="-120"/>
              </a:rPr>
              <a:t>Source: National Academy for State Health Policy (NASHP) Hospital Cost Tool, December 2025 release.</a:t>
            </a:r>
            <a:endParaRPr lang="en-US" sz="1100" dirty="0"/>
          </a:p>
          <a:p>
            <a:pPr marL="0" indent="0">
              <a:buNone/>
            </a:pPr>
            <a:r>
              <a:rPr lang="en-US" sz="1100" i="1" dirty="0">
                <a:solidFill>
                  <a:srgbClr val="6C7A89"/>
                </a:solidFill>
                <a:latin typeface="Calibri" pitchFamily="34" charset="0"/>
                <a:ea typeface="Calibri" pitchFamily="34" charset="-122"/>
                <a:cs typeface="Calibri" pitchFamily="34" charset="-120"/>
              </a:rPr>
              <a:t>Compiled from Medicare Cost Reports (CMS-2552-10) submitted by all participating U.S. hospitals.</a:t>
            </a:r>
            <a:endParaRPr lang="en-US" sz="1100" dirty="0"/>
          </a:p>
        </p:txBody>
      </p:sp>
      <p:sp>
        <p:nvSpPr>
          <p:cNvPr id="17" name="Text 15"/>
          <p:cNvSpPr/>
          <p:nvPr/>
        </p:nvSpPr>
        <p:spPr>
          <a:xfrm>
            <a:off x="457200" y="2834640"/>
            <a:ext cx="8229600" cy="274320"/>
          </a:xfrm>
          <a:prstGeom prst="rect">
            <a:avLst/>
          </a:prstGeom>
          <a:noFill/>
          <a:ln/>
        </p:spPr>
        <p:txBody>
          <a:bodyPr wrap="square" rtlCol="0" anchor="ctr"/>
          <a:lstStyle/>
          <a:p>
            <a:pPr marL="0" indent="0">
              <a:buNone/>
            </a:pPr>
            <a:r>
              <a:rPr lang="en-US" sz="1200" b="1" dirty="0">
                <a:solidFill>
                  <a:srgbClr val="2C3E50"/>
                </a:solidFill>
                <a:latin typeface="Calibri" pitchFamily="34" charset="0"/>
                <a:ea typeface="Calibri" pitchFamily="34" charset="-122"/>
                <a:cs typeface="Calibri" pitchFamily="34" charset="-120"/>
              </a:rPr>
              <a:t>The 121 variables span six categories:</a:t>
            </a:r>
            <a:endParaRPr lang="en-US" sz="1200" dirty="0"/>
          </a:p>
        </p:txBody>
      </p:sp>
      <p:sp>
        <p:nvSpPr>
          <p:cNvPr id="18" name="Text 16"/>
          <p:cNvSpPr/>
          <p:nvPr/>
        </p:nvSpPr>
        <p:spPr>
          <a:xfrm>
            <a:off x="457200" y="3154680"/>
            <a:ext cx="8229600" cy="1828800"/>
          </a:xfrm>
          <a:prstGeom prst="rect">
            <a:avLst/>
          </a:prstGeom>
          <a:noFill/>
          <a:ln/>
        </p:spPr>
        <p:txBody>
          <a:bodyPr wrap="square" rtlCol="0" anchor="ctr"/>
          <a:lstStyle/>
          <a:p>
            <a:pPr marL="342900" indent="-342900">
              <a:spcAft>
                <a:spcPts val="400"/>
              </a:spcAft>
              <a:buSzPct val="100000"/>
              <a:buChar char="•"/>
            </a:pPr>
            <a:r>
              <a:rPr lang="en-US" sz="1100" dirty="0">
                <a:solidFill>
                  <a:srgbClr val="2C3E50"/>
                </a:solidFill>
                <a:latin typeface="Calibri" pitchFamily="34" charset="0"/>
                <a:ea typeface="Calibri" pitchFamily="34" charset="-122"/>
                <a:cs typeface="Calibri" pitchFamily="34" charset="-120"/>
              </a:rPr>
              <a:t>Financial performance - revenue, expenses, net income, operating margins, fund balance</a:t>
            </a:r>
            <a:endParaRPr lang="en-US" sz="1100" dirty="0"/>
          </a:p>
          <a:p>
            <a:pPr marL="342900" indent="-342900">
              <a:spcAft>
                <a:spcPts val="400"/>
              </a:spcAft>
              <a:buSzPct val="100000"/>
              <a:buChar char="•"/>
            </a:pPr>
            <a:r>
              <a:rPr lang="en-US" sz="1100" dirty="0">
                <a:solidFill>
                  <a:srgbClr val="2C3E50"/>
                </a:solidFill>
                <a:latin typeface="Calibri" pitchFamily="34" charset="0"/>
                <a:ea typeface="Calibri" pitchFamily="34" charset="-122"/>
                <a:cs typeface="Calibri" pitchFamily="34" charset="-120"/>
              </a:rPr>
              <a:t>Payer mix - % of patients on Medicaid, Medicare, Medicare Advantage, and commercial insurance</a:t>
            </a:r>
            <a:endParaRPr lang="en-US" sz="1100" dirty="0"/>
          </a:p>
          <a:p>
            <a:pPr marL="342900" indent="-342900">
              <a:spcAft>
                <a:spcPts val="400"/>
              </a:spcAft>
              <a:buSzPct val="100000"/>
              <a:buChar char="•"/>
            </a:pPr>
            <a:r>
              <a:rPr lang="en-US" sz="1100" dirty="0">
                <a:solidFill>
                  <a:srgbClr val="2C3E50"/>
                </a:solidFill>
                <a:latin typeface="Calibri" pitchFamily="34" charset="0"/>
                <a:ea typeface="Calibri" pitchFamily="34" charset="-122"/>
                <a:cs typeface="Calibri" pitchFamily="34" charset="-120"/>
              </a:rPr>
              <a:t>Payer-specific profitability - operating margin for each payer type (reveals which payers lose money)</a:t>
            </a:r>
            <a:endParaRPr lang="en-US" sz="1100" dirty="0"/>
          </a:p>
          <a:p>
            <a:pPr marL="342900" indent="-342900">
              <a:spcAft>
                <a:spcPts val="400"/>
              </a:spcAft>
              <a:buSzPct val="100000"/>
              <a:buChar char="•"/>
            </a:pPr>
            <a:r>
              <a:rPr lang="en-US" sz="1100" dirty="0">
                <a:solidFill>
                  <a:srgbClr val="2C3E50"/>
                </a:solidFill>
                <a:latin typeface="Calibri" pitchFamily="34" charset="0"/>
                <a:ea typeface="Calibri" pitchFamily="34" charset="-122"/>
                <a:cs typeface="Calibri" pitchFamily="34" charset="-120"/>
              </a:rPr>
              <a:t>Structural characteristics - bed size, ownership (non-profit/governmental/for-profit), urban/rural, facility type</a:t>
            </a:r>
            <a:endParaRPr lang="en-US" sz="1100" dirty="0"/>
          </a:p>
          <a:p>
            <a:pPr marL="342900" indent="-342900">
              <a:spcAft>
                <a:spcPts val="400"/>
              </a:spcAft>
              <a:buSzPct val="100000"/>
              <a:buChar char="•"/>
            </a:pPr>
            <a:r>
              <a:rPr lang="en-US" sz="1100" dirty="0">
                <a:solidFill>
                  <a:srgbClr val="2C3E50"/>
                </a:solidFill>
                <a:latin typeface="Calibri" pitchFamily="34" charset="0"/>
                <a:ea typeface="Calibri" pitchFamily="34" charset="-122"/>
                <a:cs typeface="Calibri" pitchFamily="34" charset="-120"/>
              </a:rPr>
              <a:t>Labor and costs - staffing levels, wages, contracted labor, cost breakdowns</a:t>
            </a:r>
            <a:endParaRPr lang="en-US" sz="1100" dirty="0"/>
          </a:p>
          <a:p>
            <a:pPr marL="342900" indent="-342900">
              <a:spcAft>
                <a:spcPts val="400"/>
              </a:spcAft>
              <a:buSzPct val="100000"/>
              <a:buChar char="•"/>
            </a:pPr>
            <a:r>
              <a:rPr lang="en-US" sz="1100" dirty="0">
                <a:solidFill>
                  <a:srgbClr val="2C3E50"/>
                </a:solidFill>
                <a:latin typeface="Calibri" pitchFamily="34" charset="0"/>
                <a:ea typeface="Calibri" pitchFamily="34" charset="-122"/>
                <a:cs typeface="Calibri" pitchFamily="34" charset="-120"/>
              </a:rPr>
              <a:t>Community benefit - charity care costs, uninsured/bad debt costs, drug costs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1A2E"/>
          </a:solidFill>
          <a:ln/>
        </p:spPr>
        <p:txBody>
          <a:bodyPr/>
          <a:lstStyle/>
          <a:p>
            <a:endParaRPr lang="en-US"/>
          </a:p>
        </p:txBody>
      </p:sp>
      <p:sp>
        <p:nvSpPr>
          <p:cNvPr id="3" name="Text 1"/>
          <p:cNvSpPr/>
          <p:nvPr/>
        </p:nvSpPr>
        <p:spPr>
          <a:xfrm>
            <a:off x="457200" y="109728"/>
            <a:ext cx="8229600" cy="5486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Hospitals per Year - Tracking Closures</a:t>
            </a:r>
            <a:endParaRPr lang="en-US" sz="2200" dirty="0"/>
          </a:p>
        </p:txBody>
      </p:sp>
      <p:pic>
        <p:nvPicPr>
          <p:cNvPr id="4" name="Image 0" descr="nb_images/cell4_fig2.png"/>
          <p:cNvPicPr>
            <a:picLocks noChangeAspect="1"/>
          </p:cNvPicPr>
          <p:nvPr/>
        </p:nvPicPr>
        <p:blipFill>
          <a:blip r:embed="rId3"/>
          <a:srcRect/>
          <a:stretch/>
        </p:blipFill>
        <p:spPr>
          <a:xfrm>
            <a:off x="274320" y="914400"/>
            <a:ext cx="5029200" cy="2560320"/>
          </a:xfrm>
          <a:prstGeom prst="rect">
            <a:avLst/>
          </a:prstGeom>
        </p:spPr>
      </p:pic>
      <p:sp>
        <p:nvSpPr>
          <p:cNvPr id="5" name="Shape 2"/>
          <p:cNvSpPr/>
          <p:nvPr/>
        </p:nvSpPr>
        <p:spPr>
          <a:xfrm>
            <a:off x="5669280" y="914400"/>
            <a:ext cx="3200400" cy="2560320"/>
          </a:xfrm>
          <a:prstGeom prst="rect">
            <a:avLst/>
          </a:prstGeom>
          <a:solidFill>
            <a:srgbClr val="F5F6FA"/>
          </a:solidFill>
          <a:ln/>
          <a:effectLst>
            <a:outerShdw blurRad="50800" dist="25400" dir="8100000" algn="bl" rotWithShape="0">
              <a:srgbClr val="000000">
                <a:alpha val="8000"/>
              </a:srgbClr>
            </a:outerShdw>
          </a:effectLst>
        </p:spPr>
        <p:txBody>
          <a:bodyPr/>
          <a:lstStyle/>
          <a:p>
            <a:endParaRPr lang="en-US"/>
          </a:p>
        </p:txBody>
      </p:sp>
      <p:sp>
        <p:nvSpPr>
          <p:cNvPr id="6" name="Text 3"/>
          <p:cNvSpPr/>
          <p:nvPr/>
        </p:nvSpPr>
        <p:spPr>
          <a:xfrm>
            <a:off x="5852160" y="1005840"/>
            <a:ext cx="2834640" cy="274320"/>
          </a:xfrm>
          <a:prstGeom prst="rect">
            <a:avLst/>
          </a:prstGeom>
          <a:noFill/>
          <a:ln/>
        </p:spPr>
        <p:txBody>
          <a:bodyPr wrap="square" rtlCol="0" anchor="ctr"/>
          <a:lstStyle/>
          <a:p>
            <a:pPr marL="0" indent="0">
              <a:buNone/>
            </a:pPr>
            <a:r>
              <a:rPr lang="en-US" sz="1300" b="1" dirty="0">
                <a:solidFill>
                  <a:srgbClr val="C0392B"/>
                </a:solidFill>
                <a:latin typeface="Georgia" pitchFamily="34" charset="0"/>
                <a:ea typeface="Georgia" pitchFamily="34" charset="-122"/>
                <a:cs typeface="Georgia" pitchFamily="34" charset="-120"/>
              </a:rPr>
              <a:t>Key Insight</a:t>
            </a:r>
            <a:endParaRPr lang="en-US" sz="1300" dirty="0"/>
          </a:p>
        </p:txBody>
      </p:sp>
      <p:sp>
        <p:nvSpPr>
          <p:cNvPr id="7" name="Text 4"/>
          <p:cNvSpPr/>
          <p:nvPr/>
        </p:nvSpPr>
        <p:spPr>
          <a:xfrm>
            <a:off x="5852160" y="1371600"/>
            <a:ext cx="2834640" cy="2011680"/>
          </a:xfrm>
          <a:prstGeom prst="rect">
            <a:avLst/>
          </a:prstGeom>
          <a:noFill/>
          <a:ln/>
        </p:spPr>
        <p:txBody>
          <a:bodyPr wrap="square" rtlCol="0" anchor="ctr"/>
          <a:lstStyle/>
          <a:p>
            <a:pPr marL="0" indent="0">
              <a:buNone/>
            </a:pPr>
            <a:r>
              <a:rPr lang="en-US" sz="1000" dirty="0">
                <a:solidFill>
                  <a:srgbClr val="2C3E50"/>
                </a:solidFill>
                <a:latin typeface="Calibri" pitchFamily="34" charset="0"/>
                <a:ea typeface="Calibri" pitchFamily="34" charset="-122"/>
                <a:cs typeface="Calibri" pitchFamily="34" charset="-120"/>
              </a:rPr>
              <a:t>69 hospitals disappeared from the dataset between 2020-2024. By analyzing the last recorded year for each, we found 217 total hospitals that appeared in earlier years but are absent in 2024 — likely closures, mergers, or conversions.</a:t>
            </a:r>
            <a:endParaRPr lang="en-US" sz="1000" dirty="0"/>
          </a:p>
          <a:p>
            <a:pPr marL="0" indent="0">
              <a:buNone/>
            </a:pPr>
            <a:endParaRPr lang="en-US" sz="1000" dirty="0"/>
          </a:p>
          <a:p>
            <a:pPr marL="0" indent="0">
              <a:buNone/>
            </a:pPr>
            <a:r>
              <a:rPr lang="en-US" sz="1000" dirty="0">
                <a:solidFill>
                  <a:srgbClr val="2C3E50"/>
                </a:solidFill>
                <a:latin typeface="Calibri" pitchFamily="34" charset="0"/>
                <a:ea typeface="Calibri" pitchFamily="34" charset="-122"/>
                <a:cs typeface="Calibri" pitchFamily="34" charset="-120"/>
              </a:rPr>
              <a:t>These serve as our ground truth for modeling: we can study what they looked like financially before disappearing.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4114800" y="914400"/>
            <a:ext cx="640080" cy="640080"/>
          </a:xfrm>
          <a:prstGeom prst="ellipse">
            <a:avLst/>
          </a:prstGeom>
          <a:solidFill>
            <a:srgbClr val="C0392B"/>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210812" y="1010412"/>
            <a:ext cx="448056" cy="448056"/>
          </a:xfrm>
          <a:prstGeom prst="rect">
            <a:avLst/>
          </a:prstGeom>
        </p:spPr>
      </p:pic>
      <p:sp>
        <p:nvSpPr>
          <p:cNvPr id="4" name="Text 1"/>
          <p:cNvSpPr/>
          <p:nvPr/>
        </p:nvSpPr>
        <p:spPr>
          <a:xfrm>
            <a:off x="457200" y="1828800"/>
            <a:ext cx="8229600" cy="822960"/>
          </a:xfrm>
          <a:prstGeom prst="rect">
            <a:avLst/>
          </a:prstGeom>
          <a:noFill/>
          <a:ln/>
        </p:spPr>
        <p:txBody>
          <a:bodyPr wrap="square"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Exploratory Data Analysis</a:t>
            </a:r>
            <a:endParaRPr lang="en-US" sz="3400" dirty="0"/>
          </a:p>
        </p:txBody>
      </p:sp>
      <p:sp>
        <p:nvSpPr>
          <p:cNvPr id="5" name="Text 2"/>
          <p:cNvSpPr/>
          <p:nvPr/>
        </p:nvSpPr>
        <p:spPr>
          <a:xfrm>
            <a:off x="1097280" y="2834640"/>
            <a:ext cx="6949440" cy="457200"/>
          </a:xfrm>
          <a:prstGeom prst="rect">
            <a:avLst/>
          </a:prstGeom>
          <a:noFill/>
          <a:ln/>
        </p:spPr>
        <p:txBody>
          <a:bodyPr wrap="square" rtlCol="0" anchor="ctr"/>
          <a:lstStyle/>
          <a:p>
            <a:pPr marL="0" indent="0" algn="ctr">
              <a:buNone/>
            </a:pPr>
            <a:r>
              <a:rPr lang="en-US" sz="1500" dirty="0">
                <a:solidFill>
                  <a:srgbClr val="CADCFC"/>
                </a:solidFill>
                <a:latin typeface="Calibri" pitchFamily="34" charset="0"/>
                <a:ea typeface="Calibri" pitchFamily="34" charset="-122"/>
                <a:cs typeface="Calibri" pitchFamily="34" charset="-120"/>
              </a:rPr>
              <a:t>Understanding baseline hospital financial health before cuts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1A2E"/>
          </a:solidFill>
          <a:ln/>
        </p:spPr>
        <p:txBody>
          <a:bodyPr/>
          <a:lstStyle/>
          <a:p>
            <a:endParaRPr lang="en-US"/>
          </a:p>
        </p:txBody>
      </p:sp>
      <p:sp>
        <p:nvSpPr>
          <p:cNvPr id="3" name="Text 1"/>
          <p:cNvSpPr/>
          <p:nvPr/>
        </p:nvSpPr>
        <p:spPr>
          <a:xfrm>
            <a:off x="457200" y="109728"/>
            <a:ext cx="8229600" cy="5486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Financial Health Dashboard (2024)</a:t>
            </a:r>
            <a:endParaRPr lang="en-US" sz="2200" dirty="0"/>
          </a:p>
        </p:txBody>
      </p:sp>
      <p:pic>
        <p:nvPicPr>
          <p:cNvPr id="4" name="Image 0" descr="nb_images/cell6_fig1.png"/>
          <p:cNvPicPr>
            <a:picLocks noChangeAspect="1"/>
          </p:cNvPicPr>
          <p:nvPr/>
        </p:nvPicPr>
        <p:blipFill>
          <a:blip r:embed="rId3"/>
          <a:srcRect/>
          <a:stretch/>
        </p:blipFill>
        <p:spPr>
          <a:xfrm>
            <a:off x="182880" y="868680"/>
            <a:ext cx="8778240" cy="41605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1A2E"/>
          </a:solidFill>
          <a:ln/>
        </p:spPr>
        <p:txBody>
          <a:bodyPr/>
          <a:lstStyle/>
          <a:p>
            <a:endParaRPr lang="en-US"/>
          </a:p>
        </p:txBody>
      </p:sp>
      <p:sp>
        <p:nvSpPr>
          <p:cNvPr id="3" name="Text 1"/>
          <p:cNvSpPr/>
          <p:nvPr/>
        </p:nvSpPr>
        <p:spPr>
          <a:xfrm>
            <a:off x="457200" y="109728"/>
            <a:ext cx="8229600" cy="5486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What the EDA Reveals</a:t>
            </a:r>
            <a:endParaRPr lang="en-US" sz="2200" dirty="0"/>
          </a:p>
        </p:txBody>
      </p:sp>
      <p:pic>
        <p:nvPicPr>
          <p:cNvPr id="4" name="Image 0" descr="nb_images/cell7_fig2.png"/>
          <p:cNvPicPr>
            <a:picLocks noChangeAspect="1"/>
          </p:cNvPicPr>
          <p:nvPr/>
        </p:nvPicPr>
        <p:blipFill>
          <a:blip r:embed="rId3"/>
          <a:srcRect/>
          <a:stretch/>
        </p:blipFill>
        <p:spPr>
          <a:xfrm>
            <a:off x="182880" y="868680"/>
            <a:ext cx="5029200" cy="3200400"/>
          </a:xfrm>
          <a:prstGeom prst="rect">
            <a:avLst/>
          </a:prstGeom>
        </p:spPr>
      </p:pic>
      <p:sp>
        <p:nvSpPr>
          <p:cNvPr id="5" name="Shape 2"/>
          <p:cNvSpPr/>
          <p:nvPr/>
        </p:nvSpPr>
        <p:spPr>
          <a:xfrm>
            <a:off x="5394960" y="868680"/>
            <a:ext cx="3474720" cy="3200400"/>
          </a:xfrm>
          <a:prstGeom prst="rect">
            <a:avLst/>
          </a:prstGeom>
          <a:solidFill>
            <a:srgbClr val="F5F6FA"/>
          </a:solidFill>
          <a:ln/>
          <a:effectLst>
            <a:outerShdw blurRad="50800" dist="25400" dir="8100000" algn="bl" rotWithShape="0">
              <a:srgbClr val="000000">
                <a:alpha val="8000"/>
              </a:srgbClr>
            </a:outerShdw>
          </a:effectLst>
        </p:spPr>
        <p:txBody>
          <a:bodyPr/>
          <a:lstStyle/>
          <a:p>
            <a:endParaRPr lang="en-US"/>
          </a:p>
        </p:txBody>
      </p:sp>
      <p:sp>
        <p:nvSpPr>
          <p:cNvPr id="6" name="Text 3"/>
          <p:cNvSpPr/>
          <p:nvPr/>
        </p:nvSpPr>
        <p:spPr>
          <a:xfrm>
            <a:off x="5577840" y="960120"/>
            <a:ext cx="3108960" cy="320040"/>
          </a:xfrm>
          <a:prstGeom prst="rect">
            <a:avLst/>
          </a:prstGeom>
          <a:noFill/>
          <a:ln/>
        </p:spPr>
        <p:txBody>
          <a:bodyPr wrap="square" rtlCol="0" anchor="ctr"/>
          <a:lstStyle/>
          <a:p>
            <a:pPr marL="0" indent="0">
              <a:buNone/>
            </a:pPr>
            <a:r>
              <a:rPr lang="en-US" sz="1300" b="1" dirty="0">
                <a:solidFill>
                  <a:srgbClr val="C0392B"/>
                </a:solidFill>
                <a:latin typeface="Georgia" pitchFamily="34" charset="0"/>
                <a:ea typeface="Georgia" pitchFamily="34" charset="-122"/>
                <a:cs typeface="Georgia" pitchFamily="34" charset="-120"/>
              </a:rPr>
              <a:t>Critical Baseline Findings</a:t>
            </a:r>
            <a:endParaRPr lang="en-US" sz="1300" dirty="0"/>
          </a:p>
        </p:txBody>
      </p:sp>
      <p:sp>
        <p:nvSpPr>
          <p:cNvPr id="7" name="Text 4"/>
          <p:cNvSpPr/>
          <p:nvPr/>
        </p:nvSpPr>
        <p:spPr>
          <a:xfrm>
            <a:off x="5577840" y="1325880"/>
            <a:ext cx="3108960" cy="2651760"/>
          </a:xfrm>
          <a:prstGeom prst="rect">
            <a:avLst/>
          </a:prstGeom>
          <a:noFill/>
          <a:ln/>
        </p:spPr>
        <p:txBody>
          <a:bodyPr wrap="square" rtlCol="0" anchor="ctr"/>
          <a:lstStyle/>
          <a:p>
            <a:pPr marL="342900" indent="-342900">
              <a:spcAft>
                <a:spcPts val="500"/>
              </a:spcAft>
              <a:buSzPct val="100000"/>
              <a:buChar char="•"/>
            </a:pPr>
            <a:r>
              <a:rPr lang="en-US" sz="1000" dirty="0">
                <a:solidFill>
                  <a:srgbClr val="2C3E50"/>
                </a:solidFill>
                <a:latin typeface="Calibri" pitchFamily="34" charset="0"/>
                <a:ea typeface="Calibri" pitchFamily="34" charset="-122"/>
                <a:cs typeface="Calibri" pitchFamily="34" charset="-120"/>
              </a:rPr>
              <a:t>956 hospitals (22%) already have negative margins - they are losing money before any cuts</a:t>
            </a:r>
            <a:endParaRPr lang="en-US" sz="1000" dirty="0"/>
          </a:p>
          <a:p>
            <a:pPr marL="342900" indent="-342900">
              <a:spcAft>
                <a:spcPts val="500"/>
              </a:spcAft>
              <a:buSzPct val="100000"/>
              <a:buChar char="•"/>
            </a:pPr>
            <a:r>
              <a:rPr lang="en-US" sz="1000" dirty="0">
                <a:solidFill>
                  <a:srgbClr val="2C3E50"/>
                </a:solidFill>
                <a:latin typeface="Calibri" pitchFamily="34" charset="0"/>
                <a:ea typeface="Calibri" pitchFamily="34" charset="-122"/>
                <a:cs typeface="Calibri" pitchFamily="34" charset="-120"/>
              </a:rPr>
              <a:t>363 hospitals depend on Medicaid for &gt;30% of revenue - extremely exposed to cuts</a:t>
            </a:r>
            <a:endParaRPr lang="en-US" sz="1000" dirty="0"/>
          </a:p>
          <a:p>
            <a:pPr marL="342900" indent="-342900">
              <a:spcAft>
                <a:spcPts val="500"/>
              </a:spcAft>
              <a:buSzPct val="100000"/>
              <a:buChar char="•"/>
            </a:pPr>
            <a:r>
              <a:rPr lang="en-US" sz="1000" dirty="0">
                <a:solidFill>
                  <a:srgbClr val="2C3E50"/>
                </a:solidFill>
                <a:latin typeface="Calibri" pitchFamily="34" charset="0"/>
                <a:ea typeface="Calibri" pitchFamily="34" charset="-122"/>
                <a:cs typeface="Calibri" pitchFamily="34" charset="-120"/>
              </a:rPr>
              <a:t>Rural hospitals have lower median margins and more variability than urban hospitals</a:t>
            </a:r>
            <a:endParaRPr lang="en-US" sz="1000" dirty="0"/>
          </a:p>
          <a:p>
            <a:pPr marL="342900" indent="-342900">
              <a:spcAft>
                <a:spcPts val="500"/>
              </a:spcAft>
              <a:buSzPct val="100000"/>
              <a:buChar char="•"/>
            </a:pPr>
            <a:r>
              <a:rPr lang="en-US" sz="1000" dirty="0">
                <a:solidFill>
                  <a:srgbClr val="2C3E50"/>
                </a:solidFill>
                <a:latin typeface="Calibri" pitchFamily="34" charset="0"/>
                <a:ea typeface="Calibri" pitchFamily="34" charset="-122"/>
                <a:cs typeface="Calibri" pitchFamily="34" charset="-120"/>
              </a:rPr>
              <a:t>Smaller hospitals (&lt;50 beds) show the widest spread of margins - many deeply negative</a:t>
            </a:r>
            <a:endParaRPr lang="en-US" sz="1000" dirty="0"/>
          </a:p>
          <a:p>
            <a:pPr marL="342900" indent="-342900">
              <a:spcAft>
                <a:spcPts val="500"/>
              </a:spcAft>
              <a:buSzPct val="100000"/>
              <a:buChar char="•"/>
            </a:pPr>
            <a:r>
              <a:rPr lang="en-US" sz="1000" dirty="0">
                <a:solidFill>
                  <a:srgbClr val="2C3E50"/>
                </a:solidFill>
                <a:latin typeface="Calibri" pitchFamily="34" charset="0"/>
                <a:ea typeface="Calibri" pitchFamily="34" charset="-122"/>
                <a:cs typeface="Calibri" pitchFamily="34" charset="-120"/>
              </a:rPr>
              <a:t>Governmental hospitals have the worst Medicaid operating margins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1A2E"/>
          </a:solidFill>
          <a:ln/>
        </p:spPr>
        <p:txBody>
          <a:bodyPr/>
          <a:lstStyle/>
          <a:p>
            <a:endParaRPr lang="en-US"/>
          </a:p>
        </p:txBody>
      </p:sp>
      <p:sp>
        <p:nvSpPr>
          <p:cNvPr id="3" name="Text 1"/>
          <p:cNvSpPr/>
          <p:nvPr/>
        </p:nvSpPr>
        <p:spPr>
          <a:xfrm>
            <a:off x="457200" y="109728"/>
            <a:ext cx="8229600" cy="5486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Disappeared vs. Surviving Hospitals</a:t>
            </a:r>
            <a:endParaRPr lang="en-US" sz="2200" dirty="0"/>
          </a:p>
        </p:txBody>
      </p:sp>
      <p:pic>
        <p:nvPicPr>
          <p:cNvPr id="4" name="Image 0" descr="nb_images/cell9_fig2.png"/>
          <p:cNvPicPr>
            <a:picLocks noChangeAspect="1"/>
          </p:cNvPicPr>
          <p:nvPr/>
        </p:nvPicPr>
        <p:blipFill>
          <a:blip r:embed="rId3"/>
          <a:srcRect/>
          <a:stretch/>
        </p:blipFill>
        <p:spPr>
          <a:xfrm>
            <a:off x="182880" y="868680"/>
            <a:ext cx="5029200" cy="2743200"/>
          </a:xfrm>
          <a:prstGeom prst="rect">
            <a:avLst/>
          </a:prstGeom>
        </p:spPr>
      </p:pic>
      <p:sp>
        <p:nvSpPr>
          <p:cNvPr id="5" name="Shape 2"/>
          <p:cNvSpPr/>
          <p:nvPr/>
        </p:nvSpPr>
        <p:spPr>
          <a:xfrm>
            <a:off x="5394960" y="868680"/>
            <a:ext cx="3474720" cy="2743200"/>
          </a:xfrm>
          <a:prstGeom prst="rect">
            <a:avLst/>
          </a:prstGeom>
          <a:solidFill>
            <a:srgbClr val="F5F6FA"/>
          </a:solidFill>
          <a:ln/>
          <a:effectLst>
            <a:outerShdw blurRad="50800" dist="25400" dir="8100000" algn="bl" rotWithShape="0">
              <a:srgbClr val="000000">
                <a:alpha val="8000"/>
              </a:srgbClr>
            </a:outerShdw>
          </a:effectLst>
        </p:spPr>
        <p:txBody>
          <a:bodyPr/>
          <a:lstStyle/>
          <a:p>
            <a:endParaRPr lang="en-US"/>
          </a:p>
        </p:txBody>
      </p:sp>
      <p:sp>
        <p:nvSpPr>
          <p:cNvPr id="6" name="Text 3"/>
          <p:cNvSpPr/>
          <p:nvPr/>
        </p:nvSpPr>
        <p:spPr>
          <a:xfrm>
            <a:off x="5577840" y="960120"/>
            <a:ext cx="3108960" cy="320040"/>
          </a:xfrm>
          <a:prstGeom prst="rect">
            <a:avLst/>
          </a:prstGeom>
          <a:noFill/>
          <a:ln/>
        </p:spPr>
        <p:txBody>
          <a:bodyPr wrap="square" rtlCol="0" anchor="ctr"/>
          <a:lstStyle/>
          <a:p>
            <a:pPr marL="0" indent="0">
              <a:buNone/>
            </a:pPr>
            <a:r>
              <a:rPr lang="en-US" sz="1300" b="1" dirty="0">
                <a:solidFill>
                  <a:srgbClr val="C0392B"/>
                </a:solidFill>
                <a:latin typeface="Georgia" pitchFamily="34" charset="0"/>
                <a:ea typeface="Georgia" pitchFamily="34" charset="-122"/>
                <a:cs typeface="Georgia" pitchFamily="34" charset="-120"/>
              </a:rPr>
              <a:t>Why This Matters</a:t>
            </a:r>
            <a:endParaRPr lang="en-US" sz="1300" dirty="0"/>
          </a:p>
        </p:txBody>
      </p:sp>
      <p:sp>
        <p:nvSpPr>
          <p:cNvPr id="7" name="Text 4"/>
          <p:cNvSpPr/>
          <p:nvPr/>
        </p:nvSpPr>
        <p:spPr>
          <a:xfrm>
            <a:off x="5577840" y="1325880"/>
            <a:ext cx="3108960" cy="2286000"/>
          </a:xfrm>
          <a:prstGeom prst="rect">
            <a:avLst/>
          </a:prstGeom>
          <a:noFill/>
          <a:ln/>
        </p:spPr>
        <p:txBody>
          <a:bodyPr wrap="square" rtlCol="0" anchor="ctr"/>
          <a:lstStyle/>
          <a:p>
            <a:pPr marL="0" indent="0">
              <a:buNone/>
            </a:pPr>
            <a:r>
              <a:rPr lang="en-US" sz="1000" dirty="0">
                <a:solidFill>
                  <a:srgbClr val="2C3E50"/>
                </a:solidFill>
                <a:latin typeface="Calibri" pitchFamily="34" charset="0"/>
                <a:ea typeface="Calibri" pitchFamily="34" charset="-122"/>
                <a:cs typeface="Calibri" pitchFamily="34" charset="-120"/>
              </a:rPr>
              <a:t>The 217 hospitals that vanished from the dataset had:</a:t>
            </a:r>
            <a:endParaRPr lang="en-US" sz="1000" dirty="0"/>
          </a:p>
          <a:p>
            <a:pPr marL="0" indent="0">
              <a:buNone/>
            </a:pPr>
            <a:endParaRPr lang="en-US" sz="1000" dirty="0"/>
          </a:p>
          <a:p>
            <a:pPr marL="0" indent="0">
              <a:buNone/>
            </a:pPr>
            <a:r>
              <a:rPr lang="en-US" sz="1000" dirty="0">
                <a:solidFill>
                  <a:srgbClr val="2C3E50"/>
                </a:solidFill>
                <a:latin typeface="Calibri" pitchFamily="34" charset="0"/>
                <a:ea typeface="Calibri" pitchFamily="34" charset="-122"/>
                <a:cs typeface="Calibri" pitchFamily="34" charset="-120"/>
              </a:rPr>
              <a:t>• Median margin of -7.0% vs +13.7% for survivors</a:t>
            </a:r>
            <a:endParaRPr lang="en-US" sz="1000" dirty="0"/>
          </a:p>
          <a:p>
            <a:pPr marL="0" indent="0">
              <a:buNone/>
            </a:pPr>
            <a:r>
              <a:rPr lang="en-US" sz="1000" dirty="0">
                <a:solidFill>
                  <a:srgbClr val="2C3E50"/>
                </a:solidFill>
                <a:latin typeface="Calibri" pitchFamily="34" charset="0"/>
                <a:ea typeface="Calibri" pitchFamily="34" charset="-122"/>
                <a:cs typeface="Calibri" pitchFamily="34" charset="-120"/>
              </a:rPr>
              <a:t>• 62% negative margins vs 22%</a:t>
            </a:r>
            <a:endParaRPr lang="en-US" sz="1000" dirty="0"/>
          </a:p>
          <a:p>
            <a:pPr marL="0" indent="0">
              <a:buNone/>
            </a:pPr>
            <a:r>
              <a:rPr lang="en-US" sz="1000" dirty="0">
                <a:solidFill>
                  <a:srgbClr val="2C3E50"/>
                </a:solidFill>
                <a:latin typeface="Calibri" pitchFamily="34" charset="0"/>
                <a:ea typeface="Calibri" pitchFamily="34" charset="-122"/>
                <a:cs typeface="Calibri" pitchFamily="34" charset="-120"/>
              </a:rPr>
              <a:t>• Median bed size of 36 vs 64</a:t>
            </a:r>
            <a:endParaRPr lang="en-US" sz="1000" dirty="0"/>
          </a:p>
          <a:p>
            <a:pPr marL="0" indent="0">
              <a:buNone/>
            </a:pPr>
            <a:r>
              <a:rPr lang="en-US" sz="1000" dirty="0">
                <a:solidFill>
                  <a:srgbClr val="2C3E50"/>
                </a:solidFill>
                <a:latin typeface="Calibri" pitchFamily="34" charset="0"/>
                <a:ea typeface="Calibri" pitchFamily="34" charset="-122"/>
                <a:cs typeface="Calibri" pitchFamily="34" charset="-120"/>
              </a:rPr>
              <a:t>• Higher Medicaid dependence</a:t>
            </a:r>
            <a:endParaRPr lang="en-US" sz="1000" dirty="0"/>
          </a:p>
          <a:p>
            <a:pPr marL="0" indent="0">
              <a:buNone/>
            </a:pPr>
            <a:endParaRPr lang="en-US" sz="1000" dirty="0"/>
          </a:p>
          <a:p>
            <a:pPr marL="0" indent="0">
              <a:buNone/>
            </a:pPr>
            <a:r>
              <a:rPr lang="en-US" sz="1000" dirty="0">
                <a:solidFill>
                  <a:srgbClr val="2C3E50"/>
                </a:solidFill>
                <a:latin typeface="Calibri" pitchFamily="34" charset="0"/>
                <a:ea typeface="Calibri" pitchFamily="34" charset="-122"/>
                <a:cs typeface="Calibri" pitchFamily="34" charset="-120"/>
              </a:rPr>
              <a:t>This validates our approach: the financial distress patterns in closed hospitals are exactly what our model learns to detect in currently operating hospitals.</a:t>
            </a:r>
            <a:endParaRPr lang="en-US" sz="1000" dirty="0"/>
          </a:p>
        </p:txBody>
      </p:sp>
      <p:sp>
        <p:nvSpPr>
          <p:cNvPr id="8" name="Text 5"/>
          <p:cNvSpPr/>
          <p:nvPr/>
        </p:nvSpPr>
        <p:spPr>
          <a:xfrm>
            <a:off x="457200" y="3840480"/>
            <a:ext cx="8229600" cy="274320"/>
          </a:xfrm>
          <a:prstGeom prst="rect">
            <a:avLst/>
          </a:prstGeom>
          <a:noFill/>
          <a:ln/>
        </p:spPr>
        <p:txBody>
          <a:bodyPr wrap="square" rtlCol="0" anchor="ctr"/>
          <a:lstStyle/>
          <a:p>
            <a:pPr marL="0" indent="0">
              <a:buNone/>
            </a:pPr>
            <a:r>
              <a:rPr lang="en-US" sz="1100" b="1" i="1" dirty="0">
                <a:solidFill>
                  <a:srgbClr val="C0392B"/>
                </a:solidFill>
                <a:latin typeface="Calibri" pitchFamily="34" charset="0"/>
                <a:ea typeface="Calibri" pitchFamily="34" charset="-122"/>
                <a:cs typeface="Calibri" pitchFamily="34" charset="-120"/>
              </a:rPr>
              <a:t>These patterns will intensify under OBBBA Medicaid cuts.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4114800" y="914400"/>
            <a:ext cx="640080" cy="640080"/>
          </a:xfrm>
          <a:prstGeom prst="ellipse">
            <a:avLst/>
          </a:prstGeom>
          <a:solidFill>
            <a:srgbClr val="C0392B"/>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210812" y="1010412"/>
            <a:ext cx="448056" cy="448056"/>
          </a:xfrm>
          <a:prstGeom prst="rect">
            <a:avLst/>
          </a:prstGeom>
        </p:spPr>
      </p:pic>
      <p:sp>
        <p:nvSpPr>
          <p:cNvPr id="4" name="Text 1"/>
          <p:cNvSpPr/>
          <p:nvPr/>
        </p:nvSpPr>
        <p:spPr>
          <a:xfrm>
            <a:off x="457200" y="1828800"/>
            <a:ext cx="8229600" cy="822960"/>
          </a:xfrm>
          <a:prstGeom prst="rect">
            <a:avLst/>
          </a:prstGeom>
          <a:noFill/>
          <a:ln/>
        </p:spPr>
        <p:txBody>
          <a:bodyPr wrap="square"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Feature Engineering</a:t>
            </a:r>
            <a:endParaRPr lang="en-US" sz="3400" dirty="0"/>
          </a:p>
        </p:txBody>
      </p:sp>
      <p:sp>
        <p:nvSpPr>
          <p:cNvPr id="5" name="Text 2"/>
          <p:cNvSpPr/>
          <p:nvPr/>
        </p:nvSpPr>
        <p:spPr>
          <a:xfrm>
            <a:off x="1097280" y="2834640"/>
            <a:ext cx="6949440" cy="457200"/>
          </a:xfrm>
          <a:prstGeom prst="rect">
            <a:avLst/>
          </a:prstGeom>
          <a:noFill/>
          <a:ln/>
        </p:spPr>
        <p:txBody>
          <a:bodyPr wrap="square" rtlCol="0" anchor="ctr"/>
          <a:lstStyle/>
          <a:p>
            <a:pPr marL="0" indent="0" algn="ctr">
              <a:buNone/>
            </a:pPr>
            <a:r>
              <a:rPr lang="en-US" sz="1500" dirty="0">
                <a:solidFill>
                  <a:srgbClr val="CADCFC"/>
                </a:solidFill>
                <a:latin typeface="Calibri" pitchFamily="34" charset="0"/>
                <a:ea typeface="Calibri" pitchFamily="34" charset="-122"/>
                <a:cs typeface="Calibri" pitchFamily="34" charset="-120"/>
              </a:rPr>
              <a:t>Creating 15+ predictive signals from 121 raw variables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1A2E"/>
          </a:solidFill>
          <a:ln/>
        </p:spPr>
        <p:txBody>
          <a:bodyPr/>
          <a:lstStyle/>
          <a:p>
            <a:endParaRPr lang="en-US"/>
          </a:p>
        </p:txBody>
      </p:sp>
      <p:sp>
        <p:nvSpPr>
          <p:cNvPr id="3" name="Text 1"/>
          <p:cNvSpPr/>
          <p:nvPr/>
        </p:nvSpPr>
        <p:spPr>
          <a:xfrm>
            <a:off x="457200" y="109728"/>
            <a:ext cx="8229600" cy="5486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Engineered Features - Why Raw Data Isn't Enough</a:t>
            </a:r>
            <a:endParaRPr lang="en-US" sz="2200" dirty="0"/>
          </a:p>
        </p:txBody>
      </p:sp>
      <p:sp>
        <p:nvSpPr>
          <p:cNvPr id="4" name="Text 2"/>
          <p:cNvSpPr/>
          <p:nvPr/>
        </p:nvSpPr>
        <p:spPr>
          <a:xfrm>
            <a:off x="457200" y="914400"/>
            <a:ext cx="8229600" cy="411480"/>
          </a:xfrm>
          <a:prstGeom prst="rect">
            <a:avLst/>
          </a:prstGeom>
          <a:noFill/>
          <a:ln/>
        </p:spPr>
        <p:txBody>
          <a:bodyPr wrap="square" rtlCol="0" anchor="ctr"/>
          <a:lstStyle/>
          <a:p>
            <a:pPr marL="0" indent="0">
              <a:buNone/>
            </a:pPr>
            <a:r>
              <a:rPr lang="en-US" sz="1100" i="1" dirty="0">
                <a:solidFill>
                  <a:srgbClr val="6C7A89"/>
                </a:solidFill>
                <a:latin typeface="Calibri" pitchFamily="34" charset="0"/>
                <a:ea typeface="Calibri" pitchFamily="34" charset="-122"/>
                <a:cs typeface="Calibri" pitchFamily="34" charset="-120"/>
              </a:rPr>
              <a:t>Feature engineering is the most impactful step in a data science project. We create new variables that capture risk patterns better than raw columns alone.</a:t>
            </a:r>
            <a:endParaRPr lang="en-US" sz="1100" dirty="0"/>
          </a:p>
        </p:txBody>
      </p:sp>
      <p:pic>
        <p:nvPicPr>
          <p:cNvPr id="5" name="Image 0" descr="nb_images/cell11_fig2.png"/>
          <p:cNvPicPr>
            <a:picLocks noChangeAspect="1"/>
          </p:cNvPicPr>
          <p:nvPr/>
        </p:nvPicPr>
        <p:blipFill>
          <a:blip r:embed="rId3"/>
          <a:srcRect/>
          <a:stretch/>
        </p:blipFill>
        <p:spPr>
          <a:xfrm>
            <a:off x="182880" y="1417320"/>
            <a:ext cx="4389120" cy="1828800"/>
          </a:xfrm>
          <a:prstGeom prst="rect">
            <a:avLst/>
          </a:prstGeom>
        </p:spPr>
      </p:pic>
      <p:pic>
        <p:nvPicPr>
          <p:cNvPr id="6" name="Image 1" descr="nb_images/cell11_fig4.png"/>
          <p:cNvPicPr>
            <a:picLocks noChangeAspect="1"/>
          </p:cNvPicPr>
          <p:nvPr/>
        </p:nvPicPr>
        <p:blipFill>
          <a:blip r:embed="rId4"/>
          <a:srcRect/>
          <a:stretch/>
        </p:blipFill>
        <p:spPr>
          <a:xfrm>
            <a:off x="4663440" y="1417320"/>
            <a:ext cx="4389120" cy="1828800"/>
          </a:xfrm>
          <a:prstGeom prst="rect">
            <a:avLst/>
          </a:prstGeom>
        </p:spPr>
      </p:pic>
      <p:sp>
        <p:nvSpPr>
          <p:cNvPr id="7" name="Text 3"/>
          <p:cNvSpPr/>
          <p:nvPr/>
        </p:nvSpPr>
        <p:spPr>
          <a:xfrm>
            <a:off x="457200" y="3383280"/>
            <a:ext cx="8229600" cy="274320"/>
          </a:xfrm>
          <a:prstGeom prst="rect">
            <a:avLst/>
          </a:prstGeom>
          <a:noFill/>
          <a:ln/>
        </p:spPr>
        <p:txBody>
          <a:bodyPr wrap="square"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Trend features (unique to this analysis):</a:t>
            </a:r>
            <a:endParaRPr lang="en-US" sz="1100" dirty="0"/>
          </a:p>
        </p:txBody>
      </p:sp>
      <p:sp>
        <p:nvSpPr>
          <p:cNvPr id="8" name="Text 4"/>
          <p:cNvSpPr/>
          <p:nvPr/>
        </p:nvSpPr>
        <p:spPr>
          <a:xfrm>
            <a:off x="457200" y="3703320"/>
            <a:ext cx="8229600" cy="731520"/>
          </a:xfrm>
          <a:prstGeom prst="rect">
            <a:avLst/>
          </a:prstGeom>
          <a:noFill/>
          <a:ln/>
        </p:spPr>
        <p:txBody>
          <a:bodyPr wrap="square" rtlCol="0" anchor="ctr"/>
          <a:lstStyle/>
          <a:p>
            <a:pPr marL="0" indent="0">
              <a:buNone/>
            </a:pPr>
            <a:r>
              <a:rPr lang="en-US" sz="1000" dirty="0">
                <a:solidFill>
                  <a:srgbClr val="2C3E50"/>
                </a:solidFill>
                <a:latin typeface="Calibri" pitchFamily="34" charset="0"/>
                <a:ea typeface="Calibri" pitchFamily="34" charset="-122"/>
                <a:cs typeface="Calibri" pitchFamily="34" charset="-120"/>
              </a:rPr>
              <a:t>• Margin_Trend: 5-year linear regression slope of operating margin - negative = deteriorating</a:t>
            </a:r>
            <a:endParaRPr lang="en-US" sz="1000" dirty="0"/>
          </a:p>
          <a:p>
            <a:pPr marL="0" indent="0">
              <a:buNone/>
            </a:pPr>
            <a:r>
              <a:rPr lang="en-US" sz="1000" dirty="0">
                <a:solidFill>
                  <a:srgbClr val="2C3E50"/>
                </a:solidFill>
                <a:latin typeface="Calibri" pitchFamily="34" charset="0"/>
                <a:ea typeface="Calibri" pitchFamily="34" charset="-122"/>
                <a:cs typeface="Calibri" pitchFamily="34" charset="-120"/>
              </a:rPr>
              <a:t>• Recent_Decline: binary flag for margin drop in last 2 years - captures recent worsening</a:t>
            </a:r>
            <a:endParaRPr lang="en-US" sz="1000" dirty="0"/>
          </a:p>
          <a:p>
            <a:pPr marL="0" indent="0">
              <a:buNone/>
            </a:pPr>
            <a:r>
              <a:rPr lang="en-US" sz="1000" dirty="0">
                <a:solidFill>
                  <a:srgbClr val="2C3E50"/>
                </a:solidFill>
                <a:latin typeface="Calibri" pitchFamily="34" charset="0"/>
                <a:ea typeface="Calibri" pitchFamily="34" charset="-122"/>
                <a:cs typeface="Calibri" pitchFamily="34" charset="-120"/>
              </a:rPr>
              <a:t>-A hospital trending downward is riskier than one at the same level but stable.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1A2E"/>
          </a:solidFill>
          <a:ln/>
        </p:spPr>
        <p:txBody>
          <a:bodyPr/>
          <a:lstStyle/>
          <a:p>
            <a:endParaRPr lang="en-US"/>
          </a:p>
        </p:txBody>
      </p:sp>
      <p:sp>
        <p:nvSpPr>
          <p:cNvPr id="3" name="Text 1"/>
          <p:cNvSpPr/>
          <p:nvPr/>
        </p:nvSpPr>
        <p:spPr>
          <a:xfrm>
            <a:off x="457200" y="109728"/>
            <a:ext cx="8229600" cy="5486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Risk Scoring System — 6 Simultaneous Factors</a:t>
            </a:r>
            <a:endParaRPr lang="en-US" sz="2200" dirty="0"/>
          </a:p>
        </p:txBody>
      </p:sp>
      <p:pic>
        <p:nvPicPr>
          <p:cNvPr id="4" name="Image 0" descr="nb_images/cell13_fig2.png"/>
          <p:cNvPicPr>
            <a:picLocks noChangeAspect="1"/>
          </p:cNvPicPr>
          <p:nvPr/>
        </p:nvPicPr>
        <p:blipFill>
          <a:blip r:embed="rId3"/>
          <a:srcRect/>
          <a:stretch/>
        </p:blipFill>
        <p:spPr>
          <a:xfrm>
            <a:off x="182880" y="868680"/>
            <a:ext cx="5303520" cy="2926080"/>
          </a:xfrm>
          <a:prstGeom prst="rect">
            <a:avLst/>
          </a:prstGeom>
        </p:spPr>
      </p:pic>
      <p:sp>
        <p:nvSpPr>
          <p:cNvPr id="5" name="Shape 2"/>
          <p:cNvSpPr/>
          <p:nvPr/>
        </p:nvSpPr>
        <p:spPr>
          <a:xfrm>
            <a:off x="5669280" y="868680"/>
            <a:ext cx="3200400" cy="2926080"/>
          </a:xfrm>
          <a:prstGeom prst="rect">
            <a:avLst/>
          </a:prstGeom>
          <a:solidFill>
            <a:srgbClr val="F5F6FA"/>
          </a:solidFill>
          <a:ln/>
          <a:effectLst>
            <a:outerShdw blurRad="50800" dist="25400" dir="8100000" algn="bl" rotWithShape="0">
              <a:srgbClr val="000000">
                <a:alpha val="8000"/>
              </a:srgbClr>
            </a:outerShdw>
          </a:effectLst>
        </p:spPr>
        <p:txBody>
          <a:bodyPr/>
          <a:lstStyle/>
          <a:p>
            <a:endParaRPr lang="en-US"/>
          </a:p>
        </p:txBody>
      </p:sp>
      <p:sp>
        <p:nvSpPr>
          <p:cNvPr id="6" name="Text 3"/>
          <p:cNvSpPr/>
          <p:nvPr/>
        </p:nvSpPr>
        <p:spPr>
          <a:xfrm>
            <a:off x="5852160" y="960120"/>
            <a:ext cx="2834640" cy="274320"/>
          </a:xfrm>
          <a:prstGeom prst="rect">
            <a:avLst/>
          </a:prstGeom>
          <a:noFill/>
          <a:ln/>
        </p:spPr>
        <p:txBody>
          <a:bodyPr wrap="square" rtlCol="0" anchor="ctr"/>
          <a:lstStyle/>
          <a:p>
            <a:pPr marL="0" indent="0">
              <a:buNone/>
            </a:pPr>
            <a:r>
              <a:rPr lang="en-US" sz="1300" b="1" dirty="0">
                <a:solidFill>
                  <a:srgbClr val="C0392B"/>
                </a:solidFill>
                <a:latin typeface="Georgia" pitchFamily="34" charset="0"/>
                <a:ea typeface="Georgia" pitchFamily="34" charset="-122"/>
                <a:cs typeface="Georgia" pitchFamily="34" charset="-120"/>
              </a:rPr>
              <a:t>Design Rationale</a:t>
            </a:r>
            <a:endParaRPr lang="en-US" sz="1300" dirty="0"/>
          </a:p>
        </p:txBody>
      </p:sp>
      <p:sp>
        <p:nvSpPr>
          <p:cNvPr id="7" name="Text 4"/>
          <p:cNvSpPr/>
          <p:nvPr/>
        </p:nvSpPr>
        <p:spPr>
          <a:xfrm>
            <a:off x="5852160" y="1325880"/>
            <a:ext cx="2834640" cy="2377440"/>
          </a:xfrm>
          <a:prstGeom prst="rect">
            <a:avLst/>
          </a:prstGeom>
          <a:noFill/>
          <a:ln/>
        </p:spPr>
        <p:txBody>
          <a:bodyPr wrap="square" rtlCol="0" anchor="ctr"/>
          <a:lstStyle/>
          <a:p>
            <a:pPr marL="0" indent="0">
              <a:buNone/>
            </a:pPr>
            <a:r>
              <a:rPr lang="en-US" sz="1000" dirty="0">
                <a:solidFill>
                  <a:srgbClr val="2C3E50"/>
                </a:solidFill>
                <a:latin typeface="Calibri" pitchFamily="34" charset="0"/>
                <a:ea typeface="Calibri" pitchFamily="34" charset="-122"/>
                <a:cs typeface="Calibri" pitchFamily="34" charset="-120"/>
              </a:rPr>
              <a:t>A single warning sign may not indicate closure risk --hospitals can have one bad year and recover.</a:t>
            </a:r>
            <a:endParaRPr lang="en-US" sz="1000" dirty="0"/>
          </a:p>
          <a:p>
            <a:pPr marL="0" indent="0">
              <a:buNone/>
            </a:pPr>
            <a:endParaRPr lang="en-US" sz="1000" dirty="0"/>
          </a:p>
          <a:p>
            <a:pPr marL="0" indent="0">
              <a:buNone/>
            </a:pPr>
            <a:r>
              <a:rPr lang="en-US" sz="1000" dirty="0">
                <a:solidFill>
                  <a:srgbClr val="2C3E50"/>
                </a:solidFill>
                <a:latin typeface="Calibri" pitchFamily="34" charset="0"/>
                <a:ea typeface="Calibri" pitchFamily="34" charset="-122"/>
                <a:cs typeface="Calibri" pitchFamily="34" charset="-120"/>
              </a:rPr>
              <a:t>But when 5+ risk factors appear simultaneously, the probability of closure or severe service cuts increases dramatically.</a:t>
            </a:r>
            <a:endParaRPr lang="en-US" sz="1000" dirty="0"/>
          </a:p>
          <a:p>
            <a:pPr marL="0" indent="0">
              <a:buNone/>
            </a:pPr>
            <a:endParaRPr lang="en-US" sz="1000" dirty="0"/>
          </a:p>
          <a:p>
            <a:pPr marL="0" indent="0">
              <a:buNone/>
            </a:pPr>
            <a:r>
              <a:rPr lang="en-US" sz="1000" dirty="0">
                <a:solidFill>
                  <a:srgbClr val="2C3E50"/>
                </a:solidFill>
                <a:latin typeface="Calibri" pitchFamily="34" charset="0"/>
                <a:ea typeface="Calibri" pitchFamily="34" charset="-122"/>
                <a:cs typeface="Calibri" pitchFamily="34" charset="-120"/>
              </a:rPr>
              <a:t>The scoring system is informed by the financial profiles of the 217 hospitals that actually disappeared from the dataset.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1A2E"/>
          </a:solidFill>
          <a:ln/>
        </p:spPr>
        <p:txBody>
          <a:bodyPr/>
          <a:lstStyle/>
          <a:p>
            <a:endParaRPr lang="en-US"/>
          </a:p>
        </p:txBody>
      </p:sp>
      <p:sp>
        <p:nvSpPr>
          <p:cNvPr id="3" name="Text 1"/>
          <p:cNvSpPr/>
          <p:nvPr/>
        </p:nvSpPr>
        <p:spPr>
          <a:xfrm>
            <a:off x="457200" y="109728"/>
            <a:ext cx="8229600" cy="5486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Risk Tier Classification Results</a:t>
            </a:r>
            <a:endParaRPr lang="en-US" sz="2200" dirty="0"/>
          </a:p>
        </p:txBody>
      </p:sp>
      <p:pic>
        <p:nvPicPr>
          <p:cNvPr id="4" name="Image 0" descr="nb_images/cell14_fig2.png"/>
          <p:cNvPicPr>
            <a:picLocks noChangeAspect="1"/>
          </p:cNvPicPr>
          <p:nvPr/>
        </p:nvPicPr>
        <p:blipFill>
          <a:blip r:embed="rId3"/>
          <a:srcRect/>
          <a:stretch/>
        </p:blipFill>
        <p:spPr>
          <a:xfrm>
            <a:off x="182880" y="868680"/>
            <a:ext cx="5029200" cy="2286000"/>
          </a:xfrm>
          <a:prstGeom prst="rect">
            <a:avLst/>
          </a:prstGeom>
        </p:spPr>
      </p:pic>
      <p:sp>
        <p:nvSpPr>
          <p:cNvPr id="5" name="Shape 2"/>
          <p:cNvSpPr/>
          <p:nvPr/>
        </p:nvSpPr>
        <p:spPr>
          <a:xfrm>
            <a:off x="5486400" y="868680"/>
            <a:ext cx="3383280" cy="2286000"/>
          </a:xfrm>
          <a:prstGeom prst="rect">
            <a:avLst/>
          </a:prstGeom>
          <a:solidFill>
            <a:srgbClr val="F5F6FA"/>
          </a:solidFill>
          <a:ln/>
          <a:effectLst>
            <a:outerShdw blurRad="50800" dist="25400" dir="8100000" algn="bl" rotWithShape="0">
              <a:srgbClr val="000000">
                <a:alpha val="8000"/>
              </a:srgbClr>
            </a:outerShdw>
          </a:effectLst>
        </p:spPr>
        <p:txBody>
          <a:bodyPr/>
          <a:lstStyle/>
          <a:p>
            <a:endParaRPr lang="en-US"/>
          </a:p>
        </p:txBody>
      </p:sp>
      <p:sp>
        <p:nvSpPr>
          <p:cNvPr id="6" name="Text 3"/>
          <p:cNvSpPr/>
          <p:nvPr/>
        </p:nvSpPr>
        <p:spPr>
          <a:xfrm>
            <a:off x="5669280" y="960120"/>
            <a:ext cx="3017520" cy="274320"/>
          </a:xfrm>
          <a:prstGeom prst="rect">
            <a:avLst/>
          </a:prstGeom>
          <a:noFill/>
          <a:ln/>
        </p:spPr>
        <p:txBody>
          <a:bodyPr wrap="square" rtlCol="0" anchor="ctr"/>
          <a:lstStyle/>
          <a:p>
            <a:pPr marL="0" indent="0">
              <a:buNone/>
            </a:pPr>
            <a:r>
              <a:rPr lang="en-US" sz="1300" b="1" dirty="0">
                <a:solidFill>
                  <a:srgbClr val="C0392B"/>
                </a:solidFill>
                <a:latin typeface="Georgia" pitchFamily="34" charset="0"/>
                <a:ea typeface="Georgia" pitchFamily="34" charset="-122"/>
                <a:cs typeface="Georgia" pitchFamily="34" charset="-120"/>
              </a:rPr>
              <a:t>What the Tiers Mean</a:t>
            </a:r>
            <a:endParaRPr lang="en-US" sz="1300" dirty="0"/>
          </a:p>
        </p:txBody>
      </p:sp>
      <p:sp>
        <p:nvSpPr>
          <p:cNvPr id="7" name="Text 4"/>
          <p:cNvSpPr/>
          <p:nvPr/>
        </p:nvSpPr>
        <p:spPr>
          <a:xfrm>
            <a:off x="5669280" y="1325880"/>
            <a:ext cx="3017520" cy="1828800"/>
          </a:xfrm>
          <a:prstGeom prst="rect">
            <a:avLst/>
          </a:prstGeom>
          <a:noFill/>
          <a:ln/>
        </p:spPr>
        <p:txBody>
          <a:bodyPr wrap="square" rtlCol="0" anchor="ctr"/>
          <a:lstStyle/>
          <a:p>
            <a:pPr marL="0" indent="0">
              <a:buNone/>
            </a:pPr>
            <a:r>
              <a:rPr lang="en-US" sz="1000" dirty="0">
                <a:solidFill>
                  <a:srgbClr val="2C3E50"/>
                </a:solidFill>
                <a:latin typeface="Calibri" pitchFamily="34" charset="0"/>
                <a:ea typeface="Calibri" pitchFamily="34" charset="-122"/>
                <a:cs typeface="Calibri" pitchFamily="34" charset="-120"/>
              </a:rPr>
              <a:t>HIGH RISK (277 hospitals):</a:t>
            </a:r>
            <a:endParaRPr lang="en-US" sz="1000" dirty="0"/>
          </a:p>
          <a:p>
            <a:pPr marL="0" indent="0">
              <a:buNone/>
            </a:pPr>
            <a:r>
              <a:rPr lang="en-US" sz="1000" dirty="0">
                <a:solidFill>
                  <a:srgbClr val="2C3E50"/>
                </a:solidFill>
                <a:latin typeface="Calibri" pitchFamily="34" charset="0"/>
                <a:ea typeface="Calibri" pitchFamily="34" charset="-122"/>
                <a:cs typeface="Calibri" pitchFamily="34" charset="-120"/>
              </a:rPr>
              <a:t>Multiple severe distress signals; immediate closure risk. These need urgent intervention.</a:t>
            </a:r>
            <a:endParaRPr lang="en-US" sz="1000" dirty="0"/>
          </a:p>
          <a:p>
            <a:pPr marL="0" indent="0">
              <a:buNone/>
            </a:pPr>
            <a:endParaRPr lang="en-US" sz="1000" dirty="0"/>
          </a:p>
          <a:p>
            <a:pPr marL="0" indent="0">
              <a:buNone/>
            </a:pPr>
            <a:r>
              <a:rPr lang="en-US" sz="1000" dirty="0">
                <a:solidFill>
                  <a:srgbClr val="2C3E50"/>
                </a:solidFill>
                <a:latin typeface="Calibri" pitchFamily="34" charset="0"/>
                <a:ea typeface="Calibri" pitchFamily="34" charset="-122"/>
                <a:cs typeface="Calibri" pitchFamily="34" charset="-120"/>
              </a:rPr>
              <a:t>MODERATE RISK (~1,100):</a:t>
            </a:r>
            <a:endParaRPr lang="en-US" sz="1000" dirty="0"/>
          </a:p>
          <a:p>
            <a:pPr marL="0" indent="0">
              <a:buNone/>
            </a:pPr>
            <a:r>
              <a:rPr lang="en-US" sz="1000" dirty="0">
                <a:solidFill>
                  <a:srgbClr val="2C3E50"/>
                </a:solidFill>
                <a:latin typeface="Calibri" pitchFamily="34" charset="0"/>
                <a:ea typeface="Calibri" pitchFamily="34" charset="-122"/>
                <a:cs typeface="Calibri" pitchFamily="34" charset="-120"/>
              </a:rPr>
              <a:t>Some distress signals present. Vulnerable to additional shocks like the OBBBA Medicaid cuts.</a:t>
            </a:r>
            <a:endParaRPr lang="en-US" sz="1000" dirty="0"/>
          </a:p>
          <a:p>
            <a:pPr marL="0" indent="0">
              <a:buNone/>
            </a:pPr>
            <a:endParaRPr lang="en-US" sz="1000" dirty="0"/>
          </a:p>
          <a:p>
            <a:pPr marL="0" indent="0">
              <a:buNone/>
            </a:pPr>
            <a:r>
              <a:rPr lang="en-US" sz="1000" dirty="0">
                <a:solidFill>
                  <a:srgbClr val="2C3E50"/>
                </a:solidFill>
                <a:latin typeface="Calibri" pitchFamily="34" charset="0"/>
                <a:ea typeface="Calibri" pitchFamily="34" charset="-122"/>
                <a:cs typeface="Calibri" pitchFamily="34" charset="-120"/>
              </a:rPr>
              <a:t>LOW RISK (~3,091):</a:t>
            </a:r>
            <a:endParaRPr lang="en-US" sz="1000" dirty="0"/>
          </a:p>
          <a:p>
            <a:pPr marL="0" indent="0">
              <a:buNone/>
            </a:pPr>
            <a:r>
              <a:rPr lang="en-US" sz="1000" dirty="0">
                <a:solidFill>
                  <a:srgbClr val="2C3E50"/>
                </a:solidFill>
                <a:latin typeface="Calibri" pitchFamily="34" charset="0"/>
                <a:ea typeface="Calibri" pitchFamily="34" charset="-122"/>
                <a:cs typeface="Calibri" pitchFamily="34" charset="-120"/>
              </a:rPr>
              <a:t>Financially stable. Can likely absorb moderate revenue reductions.</a:t>
            </a:r>
            <a:endParaRPr lang="en-US" sz="1000" dirty="0"/>
          </a:p>
        </p:txBody>
      </p:sp>
      <p:sp>
        <p:nvSpPr>
          <p:cNvPr id="8" name="Text 5"/>
          <p:cNvSpPr/>
          <p:nvPr/>
        </p:nvSpPr>
        <p:spPr>
          <a:xfrm>
            <a:off x="457200" y="3337560"/>
            <a:ext cx="8229600" cy="274320"/>
          </a:xfrm>
          <a:prstGeom prst="rect">
            <a:avLst/>
          </a:prstGeom>
          <a:noFill/>
          <a:ln/>
        </p:spPr>
        <p:txBody>
          <a:bodyPr wrap="square" rtlCol="0" anchor="ctr"/>
          <a:lstStyle/>
          <a:p>
            <a:pPr marL="0" indent="0">
              <a:buNone/>
            </a:pPr>
            <a:r>
              <a:rPr lang="en-US" sz="1000" i="1" dirty="0">
                <a:solidFill>
                  <a:srgbClr val="6C7A89"/>
                </a:solidFill>
                <a:latin typeface="Calibri" pitchFamily="34" charset="0"/>
                <a:ea typeface="Calibri" pitchFamily="34" charset="-122"/>
                <a:cs typeface="Calibri" pitchFamily="34" charset="-120"/>
              </a:rPr>
              <a:t>The model's target variable: Is_High_Risk (binary: 1 if Tier 3, 0 otherwise)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4114800" y="914400"/>
            <a:ext cx="640080" cy="640080"/>
          </a:xfrm>
          <a:prstGeom prst="ellipse">
            <a:avLst/>
          </a:prstGeom>
          <a:solidFill>
            <a:srgbClr val="C0392B"/>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210812" y="1010412"/>
            <a:ext cx="448056" cy="448056"/>
          </a:xfrm>
          <a:prstGeom prst="rect">
            <a:avLst/>
          </a:prstGeom>
        </p:spPr>
      </p:pic>
      <p:sp>
        <p:nvSpPr>
          <p:cNvPr id="4" name="Text 1"/>
          <p:cNvSpPr/>
          <p:nvPr/>
        </p:nvSpPr>
        <p:spPr>
          <a:xfrm>
            <a:off x="457200" y="1828800"/>
            <a:ext cx="8229600" cy="822960"/>
          </a:xfrm>
          <a:prstGeom prst="rect">
            <a:avLst/>
          </a:prstGeom>
          <a:noFill/>
          <a:ln/>
        </p:spPr>
        <p:txBody>
          <a:bodyPr wrap="square"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Model Training &amp; Evaluation</a:t>
            </a:r>
            <a:endParaRPr lang="en-US" sz="3400" dirty="0"/>
          </a:p>
        </p:txBody>
      </p:sp>
      <p:sp>
        <p:nvSpPr>
          <p:cNvPr id="5" name="Text 2"/>
          <p:cNvSpPr/>
          <p:nvPr/>
        </p:nvSpPr>
        <p:spPr>
          <a:xfrm>
            <a:off x="1097280" y="2834640"/>
            <a:ext cx="6949440" cy="457200"/>
          </a:xfrm>
          <a:prstGeom prst="rect">
            <a:avLst/>
          </a:prstGeom>
          <a:noFill/>
          <a:ln/>
        </p:spPr>
        <p:txBody>
          <a:bodyPr wrap="square" rtlCol="0" anchor="ctr"/>
          <a:lstStyle/>
          <a:p>
            <a:pPr marL="0" indent="0" algn="ctr">
              <a:buNone/>
            </a:pPr>
            <a:r>
              <a:rPr lang="en-US" sz="1500" dirty="0">
                <a:solidFill>
                  <a:srgbClr val="CADCFC"/>
                </a:solidFill>
                <a:latin typeface="Calibri" pitchFamily="34" charset="0"/>
                <a:ea typeface="Calibri" pitchFamily="34" charset="-122"/>
                <a:cs typeface="Calibri" pitchFamily="34" charset="-120"/>
              </a:rPr>
              <a:t>Three algorithms compared - Random Forest selected</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1A2E"/>
          </a:solidFill>
          <a:ln/>
        </p:spPr>
        <p:txBody>
          <a:bodyPr/>
          <a:lstStyle/>
          <a:p>
            <a:endParaRPr lang="en-US"/>
          </a:p>
        </p:txBody>
      </p:sp>
      <p:sp>
        <p:nvSpPr>
          <p:cNvPr id="3" name="Text 1"/>
          <p:cNvSpPr/>
          <p:nvPr/>
        </p:nvSpPr>
        <p:spPr>
          <a:xfrm>
            <a:off x="457200" y="109728"/>
            <a:ext cx="8229600" cy="5486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Model Comparison</a:t>
            </a:r>
            <a:endParaRPr lang="en-US" sz="2200" dirty="0"/>
          </a:p>
        </p:txBody>
      </p:sp>
      <p:pic>
        <p:nvPicPr>
          <p:cNvPr id="4" name="Image 0" descr="nb_images/cell17_fig2.png"/>
          <p:cNvPicPr>
            <a:picLocks noChangeAspect="1"/>
          </p:cNvPicPr>
          <p:nvPr/>
        </p:nvPicPr>
        <p:blipFill>
          <a:blip r:embed="rId3"/>
          <a:srcRect/>
          <a:stretch/>
        </p:blipFill>
        <p:spPr>
          <a:xfrm>
            <a:off x="182880" y="868680"/>
            <a:ext cx="5029200" cy="2286000"/>
          </a:xfrm>
          <a:prstGeom prst="rect">
            <a:avLst/>
          </a:prstGeom>
        </p:spPr>
      </p:pic>
      <p:sp>
        <p:nvSpPr>
          <p:cNvPr id="5" name="Shape 2"/>
          <p:cNvSpPr/>
          <p:nvPr/>
        </p:nvSpPr>
        <p:spPr>
          <a:xfrm>
            <a:off x="5486400" y="868680"/>
            <a:ext cx="3383280" cy="2286000"/>
          </a:xfrm>
          <a:prstGeom prst="rect">
            <a:avLst/>
          </a:prstGeom>
          <a:solidFill>
            <a:srgbClr val="F5F6FA"/>
          </a:solidFill>
          <a:ln/>
          <a:effectLst>
            <a:outerShdw blurRad="50800" dist="25400" dir="8100000" algn="bl" rotWithShape="0">
              <a:srgbClr val="000000">
                <a:alpha val="8000"/>
              </a:srgbClr>
            </a:outerShdw>
          </a:effectLst>
        </p:spPr>
        <p:txBody>
          <a:bodyPr/>
          <a:lstStyle/>
          <a:p>
            <a:endParaRPr lang="en-US"/>
          </a:p>
        </p:txBody>
      </p:sp>
      <p:sp>
        <p:nvSpPr>
          <p:cNvPr id="6" name="Text 3"/>
          <p:cNvSpPr/>
          <p:nvPr/>
        </p:nvSpPr>
        <p:spPr>
          <a:xfrm>
            <a:off x="5669280" y="960120"/>
            <a:ext cx="3017520" cy="274320"/>
          </a:xfrm>
          <a:prstGeom prst="rect">
            <a:avLst/>
          </a:prstGeom>
          <a:noFill/>
          <a:ln/>
        </p:spPr>
        <p:txBody>
          <a:bodyPr wrap="square" rtlCol="0" anchor="ctr"/>
          <a:lstStyle/>
          <a:p>
            <a:pPr marL="0" indent="0">
              <a:buNone/>
            </a:pPr>
            <a:r>
              <a:rPr lang="en-US" sz="1300" b="1" dirty="0">
                <a:solidFill>
                  <a:srgbClr val="C0392B"/>
                </a:solidFill>
                <a:latin typeface="Georgia" pitchFamily="34" charset="0"/>
                <a:ea typeface="Georgia" pitchFamily="34" charset="-122"/>
                <a:cs typeface="Georgia" pitchFamily="34" charset="-120"/>
              </a:rPr>
              <a:t>Why Three Models?</a:t>
            </a:r>
            <a:endParaRPr lang="en-US" sz="1300" dirty="0"/>
          </a:p>
        </p:txBody>
      </p:sp>
      <p:sp>
        <p:nvSpPr>
          <p:cNvPr id="7" name="Text 4"/>
          <p:cNvSpPr/>
          <p:nvPr/>
        </p:nvSpPr>
        <p:spPr>
          <a:xfrm>
            <a:off x="5669280" y="1325880"/>
            <a:ext cx="3017520" cy="1828800"/>
          </a:xfrm>
          <a:prstGeom prst="rect">
            <a:avLst/>
          </a:prstGeom>
          <a:noFill/>
          <a:ln/>
        </p:spPr>
        <p:txBody>
          <a:bodyPr wrap="square" rtlCol="0" anchor="ctr"/>
          <a:lstStyle/>
          <a:p>
            <a:pPr marL="0" indent="0">
              <a:buNone/>
            </a:pPr>
            <a:r>
              <a:rPr lang="en-US" sz="1000" dirty="0">
                <a:solidFill>
                  <a:srgbClr val="2C3E50"/>
                </a:solidFill>
                <a:latin typeface="Calibri" pitchFamily="34" charset="0"/>
                <a:ea typeface="Calibri" pitchFamily="34" charset="-122"/>
                <a:cs typeface="Calibri" pitchFamily="34" charset="-120"/>
              </a:rPr>
              <a:t>Logistic Regression: Simple baseline. Draws a linear boundary between at-risk and stable hospitals.</a:t>
            </a:r>
            <a:endParaRPr lang="en-US" sz="1000" dirty="0"/>
          </a:p>
          <a:p>
            <a:pPr marL="0" indent="0">
              <a:buNone/>
            </a:pPr>
            <a:endParaRPr lang="en-US" sz="1000" dirty="0"/>
          </a:p>
          <a:p>
            <a:pPr marL="0" indent="0">
              <a:buNone/>
            </a:pPr>
            <a:r>
              <a:rPr lang="en-US" sz="1000" dirty="0">
                <a:solidFill>
                  <a:srgbClr val="2C3E50"/>
                </a:solidFill>
                <a:latin typeface="Calibri" pitchFamily="34" charset="0"/>
                <a:ea typeface="Calibri" pitchFamily="34" charset="-122"/>
                <a:cs typeface="Calibri" pitchFamily="34" charset="-120"/>
              </a:rPr>
              <a:t>Random Forest: 200 decision trees vote independently. Reduces overfitting.</a:t>
            </a:r>
            <a:endParaRPr lang="en-US" sz="1000" dirty="0"/>
          </a:p>
          <a:p>
            <a:pPr marL="0" indent="0">
              <a:buNone/>
            </a:pPr>
            <a:endParaRPr lang="en-US" sz="1000" dirty="0"/>
          </a:p>
          <a:p>
            <a:pPr marL="0" indent="0">
              <a:buNone/>
            </a:pPr>
            <a:r>
              <a:rPr lang="en-US" sz="1000" dirty="0">
                <a:solidFill>
                  <a:srgbClr val="2C3E50"/>
                </a:solidFill>
                <a:latin typeface="Calibri" pitchFamily="34" charset="0"/>
                <a:ea typeface="Calibri" pitchFamily="34" charset="-122"/>
                <a:cs typeface="Calibri" pitchFamily="34" charset="-120"/>
              </a:rPr>
              <a:t>Gradient Boosting: Trees built sequentially, each correcting prior mistakes.</a:t>
            </a:r>
            <a:endParaRPr lang="en-US" sz="1000" dirty="0"/>
          </a:p>
          <a:p>
            <a:pPr marL="0" indent="0">
              <a:buNone/>
            </a:pPr>
            <a:endParaRPr lang="en-US" sz="1000" dirty="0"/>
          </a:p>
          <a:p>
            <a:pPr marL="0" indent="0">
              <a:buNone/>
            </a:pPr>
            <a:r>
              <a:rPr lang="en-US" sz="1000" dirty="0">
                <a:solidFill>
                  <a:srgbClr val="2C3E50"/>
                </a:solidFill>
                <a:latin typeface="Calibri" pitchFamily="34" charset="0"/>
                <a:ea typeface="Calibri" pitchFamily="34" charset="-122"/>
                <a:cs typeface="Calibri" pitchFamily="34" charset="-120"/>
              </a:rPr>
              <a:t>Random Forest was selected for the highest ROC AUC, meaning it best distinguishes high-risk from stable hospitals.</a:t>
            </a:r>
            <a:endParaRPr lang="en-US" sz="1000" dirty="0"/>
          </a:p>
        </p:txBody>
      </p:sp>
      <p:sp>
        <p:nvSpPr>
          <p:cNvPr id="8" name="Text 5"/>
          <p:cNvSpPr/>
          <p:nvPr/>
        </p:nvSpPr>
        <p:spPr>
          <a:xfrm>
            <a:off x="457200" y="3337560"/>
            <a:ext cx="8229600" cy="274320"/>
          </a:xfrm>
          <a:prstGeom prst="rect">
            <a:avLst/>
          </a:prstGeom>
          <a:noFill/>
          <a:ln/>
        </p:spPr>
        <p:txBody>
          <a:bodyPr wrap="square" rtlCol="0" anchor="ctr"/>
          <a:lstStyle/>
          <a:p>
            <a:pPr marL="0" indent="0">
              <a:buNone/>
            </a:pPr>
            <a:r>
              <a:rPr lang="en-US" sz="1000" i="1" dirty="0">
                <a:solidFill>
                  <a:srgbClr val="6C7A89"/>
                </a:solidFill>
                <a:latin typeface="Calibri" pitchFamily="34" charset="0"/>
                <a:ea typeface="Calibri" pitchFamily="34" charset="-122"/>
                <a:cs typeface="Calibri" pitchFamily="34" charset="-120"/>
              </a:rPr>
              <a:t>All models used class_weight='balanced' to prevent defaulting to 'not at risk' for all hospitals.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1A2E"/>
          </a:solidFill>
          <a:ln/>
        </p:spPr>
        <p:txBody>
          <a:bodyPr/>
          <a:lstStyle/>
          <a:p>
            <a:endParaRPr lang="en-US"/>
          </a:p>
        </p:txBody>
      </p:sp>
      <p:sp>
        <p:nvSpPr>
          <p:cNvPr id="3" name="Text 1"/>
          <p:cNvSpPr/>
          <p:nvPr/>
        </p:nvSpPr>
        <p:spPr>
          <a:xfrm>
            <a:off x="457200" y="109728"/>
            <a:ext cx="8229600" cy="5486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Model Evaluation - Confusion Matrix, ROC, Feature Importance</a:t>
            </a:r>
            <a:endParaRPr lang="en-US" sz="2200" dirty="0"/>
          </a:p>
        </p:txBody>
      </p:sp>
      <p:pic>
        <p:nvPicPr>
          <p:cNvPr id="4" name="Image 0" descr="nb_images/cell18_fig1.png"/>
          <p:cNvPicPr>
            <a:picLocks noChangeAspect="1"/>
          </p:cNvPicPr>
          <p:nvPr/>
        </p:nvPicPr>
        <p:blipFill>
          <a:blip r:embed="rId3"/>
          <a:srcRect/>
          <a:stretch/>
        </p:blipFill>
        <p:spPr>
          <a:xfrm>
            <a:off x="137160" y="868680"/>
            <a:ext cx="8869680" cy="3200400"/>
          </a:xfrm>
          <a:prstGeom prst="rect">
            <a:avLst/>
          </a:prstGeom>
        </p:spPr>
      </p:pic>
      <p:sp>
        <p:nvSpPr>
          <p:cNvPr id="5" name="Text 2"/>
          <p:cNvSpPr/>
          <p:nvPr/>
        </p:nvSpPr>
        <p:spPr>
          <a:xfrm>
            <a:off x="457200" y="4160520"/>
            <a:ext cx="8229600" cy="502920"/>
          </a:xfrm>
          <a:prstGeom prst="rect">
            <a:avLst/>
          </a:prstGeom>
          <a:noFill/>
          <a:ln/>
        </p:spPr>
        <p:txBody>
          <a:bodyPr wrap="square" rtlCol="0" anchor="ctr"/>
          <a:lstStyle/>
          <a:p>
            <a:pPr marL="0" indent="0">
              <a:buNone/>
            </a:pPr>
            <a:r>
              <a:rPr lang="en-US" sz="1000" dirty="0">
                <a:solidFill>
                  <a:srgbClr val="2C3E50"/>
                </a:solidFill>
                <a:latin typeface="Calibri" pitchFamily="34" charset="0"/>
                <a:ea typeface="Calibri" pitchFamily="34" charset="-122"/>
                <a:cs typeface="Calibri" pitchFamily="34" charset="-120"/>
              </a:rPr>
              <a:t>Left: Confusion matrix , how many at-risk hospitals were correctly identified vs missed.  Center: ROC curve, tradeoff between catching all at-risk hospitals and avoiding false alarms.  Right: Feature importance, the factors that most strongly predict closure risk.</a:t>
            </a:r>
            <a:endParaRPr lang="en-US" sz="1000" dirty="0"/>
          </a:p>
        </p:txBody>
      </p:sp>
      <p:sp>
        <p:nvSpPr>
          <p:cNvPr id="6" name="Text 3"/>
          <p:cNvSpPr/>
          <p:nvPr/>
        </p:nvSpPr>
        <p:spPr>
          <a:xfrm>
            <a:off x="457200" y="4663440"/>
            <a:ext cx="8229600" cy="274320"/>
          </a:xfrm>
          <a:prstGeom prst="rect">
            <a:avLst/>
          </a:prstGeom>
          <a:noFill/>
          <a:ln/>
        </p:spPr>
        <p:txBody>
          <a:bodyPr wrap="square"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Top 5 predictors: Operating Profit Margin, Medicaid Payer Mix, Margin Trend, Government Payer Dependence, Bed Size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4114800" y="914400"/>
            <a:ext cx="640080" cy="640080"/>
          </a:xfrm>
          <a:prstGeom prst="ellipse">
            <a:avLst/>
          </a:prstGeom>
          <a:solidFill>
            <a:srgbClr val="C0392B"/>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210812" y="1010412"/>
            <a:ext cx="448056" cy="448056"/>
          </a:xfrm>
          <a:prstGeom prst="rect">
            <a:avLst/>
          </a:prstGeom>
        </p:spPr>
      </p:pic>
      <p:sp>
        <p:nvSpPr>
          <p:cNvPr id="4" name="Text 1"/>
          <p:cNvSpPr/>
          <p:nvPr/>
        </p:nvSpPr>
        <p:spPr>
          <a:xfrm>
            <a:off x="457200" y="1828800"/>
            <a:ext cx="8229600" cy="822960"/>
          </a:xfrm>
          <a:prstGeom prst="rect">
            <a:avLst/>
          </a:prstGeom>
          <a:noFill/>
          <a:ln/>
        </p:spPr>
        <p:txBody>
          <a:bodyPr wrap="square"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Scenario Simulation</a:t>
            </a:r>
            <a:endParaRPr lang="en-US" sz="3400" dirty="0"/>
          </a:p>
        </p:txBody>
      </p:sp>
      <p:sp>
        <p:nvSpPr>
          <p:cNvPr id="5" name="Text 2"/>
          <p:cNvSpPr/>
          <p:nvPr/>
        </p:nvSpPr>
        <p:spPr>
          <a:xfrm>
            <a:off x="1097280" y="2834640"/>
            <a:ext cx="6949440" cy="457200"/>
          </a:xfrm>
          <a:prstGeom prst="rect">
            <a:avLst/>
          </a:prstGeom>
          <a:noFill/>
          <a:ln/>
        </p:spPr>
        <p:txBody>
          <a:bodyPr wrap="square" rtlCol="0" anchor="ctr"/>
          <a:lstStyle/>
          <a:p>
            <a:pPr marL="0" indent="0" algn="ctr">
              <a:buNone/>
            </a:pPr>
            <a:r>
              <a:rPr lang="en-US" sz="1500" dirty="0">
                <a:solidFill>
                  <a:srgbClr val="CADCFC"/>
                </a:solidFill>
                <a:latin typeface="Calibri" pitchFamily="34" charset="0"/>
                <a:ea typeface="Calibri" pitchFamily="34" charset="-122"/>
                <a:cs typeface="Calibri" pitchFamily="34" charset="-120"/>
              </a:rPr>
              <a:t>What happens when Medicaid revenue drops 5% to 30%?</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1A2E"/>
          </a:solidFill>
          <a:ln/>
        </p:spPr>
        <p:txBody>
          <a:bodyPr/>
          <a:lstStyle/>
          <a:p>
            <a:endParaRPr lang="en-US"/>
          </a:p>
        </p:txBody>
      </p:sp>
      <p:sp>
        <p:nvSpPr>
          <p:cNvPr id="3" name="Text 1"/>
          <p:cNvSpPr/>
          <p:nvPr/>
        </p:nvSpPr>
        <p:spPr>
          <a:xfrm>
            <a:off x="457200" y="109728"/>
            <a:ext cx="8229600" cy="5486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Scenario Simulation - OBBBA Medicaid Cut Impact</a:t>
            </a:r>
            <a:endParaRPr lang="en-US" sz="2200" dirty="0"/>
          </a:p>
        </p:txBody>
      </p:sp>
      <p:pic>
        <p:nvPicPr>
          <p:cNvPr id="4" name="Image 0" descr="nb_images/cell19_fig2.png"/>
          <p:cNvPicPr>
            <a:picLocks noChangeAspect="1"/>
          </p:cNvPicPr>
          <p:nvPr/>
        </p:nvPicPr>
        <p:blipFill>
          <a:blip r:embed="rId3"/>
          <a:srcRect/>
          <a:stretch/>
        </p:blipFill>
        <p:spPr>
          <a:xfrm>
            <a:off x="137160" y="868680"/>
            <a:ext cx="8869680" cy="3017520"/>
          </a:xfrm>
          <a:prstGeom prst="rect">
            <a:avLst/>
          </a:prstGeom>
        </p:spPr>
      </p:pic>
      <p:sp>
        <p:nvSpPr>
          <p:cNvPr id="5" name="Text 2"/>
          <p:cNvSpPr/>
          <p:nvPr/>
        </p:nvSpPr>
        <p:spPr>
          <a:xfrm>
            <a:off x="457200" y="4023360"/>
            <a:ext cx="8229600" cy="640080"/>
          </a:xfrm>
          <a:prstGeom prst="rect">
            <a:avLst/>
          </a:prstGeom>
          <a:noFill/>
          <a:ln/>
        </p:spPr>
        <p:txBody>
          <a:bodyPr wrap="square" rtlCol="0" anchor="ctr"/>
          <a:lstStyle/>
          <a:p>
            <a:pPr marL="0" indent="0">
              <a:buNone/>
            </a:pPr>
            <a:r>
              <a:rPr lang="en-US" sz="1000" dirty="0">
                <a:solidFill>
                  <a:srgbClr val="2C3E50"/>
                </a:solidFill>
                <a:latin typeface="Calibri" pitchFamily="34" charset="0"/>
                <a:ea typeface="Calibri" pitchFamily="34" charset="-122"/>
                <a:cs typeface="Calibri" pitchFamily="34" charset="-120"/>
              </a:rPr>
              <a:t>How this works: For each hospital, we estimate Medicaid revenue (Net Patient Revenue × Medicaid %), then reduce it by 5-30%. Since EMTALA requires hospitals to keep treating patients, costs don't decrease  the revenue loss comes directly off operating profit. We count how many hospitals cross from positive to negative margins at each cut level.</a:t>
            </a:r>
            <a:endParaRPr lang="en-US" sz="1000" dirty="0"/>
          </a:p>
        </p:txBody>
      </p:sp>
      <p:sp>
        <p:nvSpPr>
          <p:cNvPr id="6" name="Text 3"/>
          <p:cNvSpPr/>
          <p:nvPr/>
        </p:nvSpPr>
        <p:spPr>
          <a:xfrm>
            <a:off x="457200" y="4663440"/>
            <a:ext cx="8229600" cy="274320"/>
          </a:xfrm>
          <a:prstGeom prst="rect">
            <a:avLst/>
          </a:prstGeom>
          <a:noFill/>
          <a:ln/>
        </p:spPr>
        <p:txBody>
          <a:bodyPr wrap="square" rtlCol="0" anchor="ctr"/>
          <a:lstStyle/>
          <a:p>
            <a:pPr marL="0" indent="0">
              <a:buNone/>
            </a:pPr>
            <a:r>
              <a:rPr lang="en-US" sz="1000" b="1" i="1" dirty="0">
                <a:solidFill>
                  <a:srgbClr val="C0392B"/>
                </a:solidFill>
                <a:latin typeface="Calibri" pitchFamily="34" charset="0"/>
                <a:ea typeface="Calibri" pitchFamily="34" charset="-122"/>
                <a:cs typeface="Calibri" pitchFamily="34" charset="-120"/>
              </a:rPr>
              <a:t>The 20% scenario aligns with CBO projections of the OBBBA's cumulative impact.</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1A2E"/>
          </a:solidFill>
          <a:ln/>
        </p:spPr>
        <p:txBody>
          <a:bodyPr/>
          <a:lstStyle/>
          <a:p>
            <a:endParaRPr lang="en-US"/>
          </a:p>
        </p:txBody>
      </p:sp>
      <p:sp>
        <p:nvSpPr>
          <p:cNvPr id="3" name="Text 1"/>
          <p:cNvSpPr/>
          <p:nvPr/>
        </p:nvSpPr>
        <p:spPr>
          <a:xfrm>
            <a:off x="457200" y="109728"/>
            <a:ext cx="8229600" cy="5486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Scenario Results Summary</a:t>
            </a:r>
            <a:endParaRPr lang="en-US" sz="2200" dirty="0"/>
          </a:p>
        </p:txBody>
      </p:sp>
      <p:pic>
        <p:nvPicPr>
          <p:cNvPr id="4" name="Image 0" descr="nb_images/cell20_fig2.png"/>
          <p:cNvPicPr>
            <a:picLocks noChangeAspect="1"/>
          </p:cNvPicPr>
          <p:nvPr/>
        </p:nvPicPr>
        <p:blipFill>
          <a:blip r:embed="rId3"/>
          <a:srcRect/>
          <a:stretch/>
        </p:blipFill>
        <p:spPr>
          <a:xfrm>
            <a:off x="182880" y="868680"/>
            <a:ext cx="5029200" cy="3017520"/>
          </a:xfrm>
          <a:prstGeom prst="rect">
            <a:avLst/>
          </a:prstGeom>
        </p:spPr>
      </p:pic>
      <p:sp>
        <p:nvSpPr>
          <p:cNvPr id="5" name="Shape 2"/>
          <p:cNvSpPr/>
          <p:nvPr/>
        </p:nvSpPr>
        <p:spPr>
          <a:xfrm>
            <a:off x="5486400" y="868680"/>
            <a:ext cx="3383280" cy="3017520"/>
          </a:xfrm>
          <a:prstGeom prst="rect">
            <a:avLst/>
          </a:prstGeom>
          <a:solidFill>
            <a:srgbClr val="F5F6FA"/>
          </a:solidFill>
          <a:ln/>
          <a:effectLst>
            <a:outerShdw blurRad="50800" dist="25400" dir="8100000" algn="bl" rotWithShape="0">
              <a:srgbClr val="000000">
                <a:alpha val="8000"/>
              </a:srgbClr>
            </a:outerShdw>
          </a:effectLst>
        </p:spPr>
        <p:txBody>
          <a:bodyPr/>
          <a:lstStyle/>
          <a:p>
            <a:endParaRPr lang="en-US"/>
          </a:p>
        </p:txBody>
      </p:sp>
      <p:sp>
        <p:nvSpPr>
          <p:cNvPr id="6" name="Text 3"/>
          <p:cNvSpPr/>
          <p:nvPr/>
        </p:nvSpPr>
        <p:spPr>
          <a:xfrm>
            <a:off x="5669280" y="960120"/>
            <a:ext cx="3017520" cy="274320"/>
          </a:xfrm>
          <a:prstGeom prst="rect">
            <a:avLst/>
          </a:prstGeom>
          <a:noFill/>
          <a:ln/>
        </p:spPr>
        <p:txBody>
          <a:bodyPr wrap="square" rtlCol="0" anchor="ctr"/>
          <a:lstStyle/>
          <a:p>
            <a:pPr marL="0" indent="0">
              <a:buNone/>
            </a:pPr>
            <a:r>
              <a:rPr lang="en-US" sz="1300" b="1" dirty="0">
                <a:solidFill>
                  <a:srgbClr val="C0392B"/>
                </a:solidFill>
                <a:latin typeface="Georgia" pitchFamily="34" charset="0"/>
                <a:ea typeface="Georgia" pitchFamily="34" charset="-122"/>
                <a:cs typeface="Georgia" pitchFamily="34" charset="-120"/>
              </a:rPr>
              <a:t>Interpretation</a:t>
            </a:r>
            <a:endParaRPr lang="en-US" sz="1300" dirty="0"/>
          </a:p>
        </p:txBody>
      </p:sp>
      <p:sp>
        <p:nvSpPr>
          <p:cNvPr id="7" name="Text 4"/>
          <p:cNvSpPr/>
          <p:nvPr/>
        </p:nvSpPr>
        <p:spPr>
          <a:xfrm>
            <a:off x="5669280" y="1325880"/>
            <a:ext cx="3017520" cy="2468880"/>
          </a:xfrm>
          <a:prstGeom prst="rect">
            <a:avLst/>
          </a:prstGeom>
          <a:noFill/>
          <a:ln/>
        </p:spPr>
        <p:txBody>
          <a:bodyPr wrap="square" rtlCol="0" anchor="ctr"/>
          <a:lstStyle/>
          <a:p>
            <a:pPr marL="0" indent="0">
              <a:buNone/>
            </a:pPr>
            <a:r>
              <a:rPr lang="en-US" sz="1000" dirty="0">
                <a:solidFill>
                  <a:srgbClr val="2C3E50"/>
                </a:solidFill>
                <a:latin typeface="Calibri" pitchFamily="34" charset="0"/>
                <a:ea typeface="Calibri" pitchFamily="34" charset="-122"/>
                <a:cs typeface="Calibri" pitchFamily="34" charset="-120"/>
              </a:rPr>
              <a:t>At 5-10%: Impact concentrated among hospitals already near break-even.</a:t>
            </a:r>
            <a:endParaRPr lang="en-US" sz="1000" dirty="0"/>
          </a:p>
          <a:p>
            <a:pPr marL="0" indent="0">
              <a:buNone/>
            </a:pPr>
            <a:endParaRPr lang="en-US" sz="1000" dirty="0"/>
          </a:p>
          <a:p>
            <a:pPr marL="0" indent="0">
              <a:buNone/>
            </a:pPr>
            <a:r>
              <a:rPr lang="en-US" sz="1000" dirty="0">
                <a:solidFill>
                  <a:srgbClr val="2C3E50"/>
                </a:solidFill>
                <a:latin typeface="Calibri" pitchFamily="34" charset="0"/>
                <a:ea typeface="Calibri" pitchFamily="34" charset="-122"/>
                <a:cs typeface="Calibri" pitchFamily="34" charset="-120"/>
              </a:rPr>
              <a:t>At 15-20%: Rural hospitals hit disproportionately. Hundreds of additional hospitals pushed into negative margins.</a:t>
            </a:r>
            <a:endParaRPr lang="en-US" sz="1000" dirty="0"/>
          </a:p>
          <a:p>
            <a:pPr marL="0" indent="0">
              <a:buNone/>
            </a:pPr>
            <a:endParaRPr lang="en-US" sz="1000" dirty="0"/>
          </a:p>
          <a:p>
            <a:pPr marL="0" indent="0">
              <a:buNone/>
            </a:pPr>
            <a:r>
              <a:rPr lang="en-US" sz="1000" dirty="0">
                <a:solidFill>
                  <a:srgbClr val="2C3E50"/>
                </a:solidFill>
                <a:latin typeface="Calibri" pitchFamily="34" charset="0"/>
                <a:ea typeface="Calibri" pitchFamily="34" charset="-122"/>
                <a:cs typeface="Calibri" pitchFamily="34" charset="-120"/>
              </a:rPr>
              <a:t>At 25-30%: Urban hospitals begin showing vulnerability. Nationwide acceleration of closures.</a:t>
            </a:r>
            <a:endParaRPr lang="en-US" sz="1000" dirty="0"/>
          </a:p>
          <a:p>
            <a:pPr marL="0" indent="0">
              <a:buNone/>
            </a:pPr>
            <a:endParaRPr lang="en-US" sz="1000" dirty="0"/>
          </a:p>
          <a:p>
            <a:pPr marL="0" indent="0">
              <a:buNone/>
            </a:pPr>
            <a:r>
              <a:rPr lang="en-US" sz="1000" dirty="0">
                <a:solidFill>
                  <a:srgbClr val="2C3E50"/>
                </a:solidFill>
                <a:latin typeface="Calibri" pitchFamily="34" charset="0"/>
                <a:ea typeface="Calibri" pitchFamily="34" charset="-122"/>
                <a:cs typeface="Calibri" pitchFamily="34" charset="-120"/>
              </a:rPr>
              <a:t>The cascade effect is critical, each closure forces remaining hospitals to absorb more uncompensated care, pushing them closer to their own tipping point.</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4114800" y="914400"/>
            <a:ext cx="640080" cy="640080"/>
          </a:xfrm>
          <a:prstGeom prst="ellipse">
            <a:avLst/>
          </a:prstGeom>
          <a:solidFill>
            <a:srgbClr val="C0392B"/>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210812" y="1010412"/>
            <a:ext cx="448056" cy="448056"/>
          </a:xfrm>
          <a:prstGeom prst="rect">
            <a:avLst/>
          </a:prstGeom>
        </p:spPr>
      </p:pic>
      <p:sp>
        <p:nvSpPr>
          <p:cNvPr id="4" name="Text 1"/>
          <p:cNvSpPr/>
          <p:nvPr/>
        </p:nvSpPr>
        <p:spPr>
          <a:xfrm>
            <a:off x="457200" y="1828800"/>
            <a:ext cx="8229600" cy="822960"/>
          </a:xfrm>
          <a:prstGeom prst="rect">
            <a:avLst/>
          </a:prstGeom>
          <a:noFill/>
          <a:ln/>
        </p:spPr>
        <p:txBody>
          <a:bodyPr wrap="square"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Geographic Impact Analysis</a:t>
            </a:r>
            <a:endParaRPr lang="en-US" sz="3400" dirty="0"/>
          </a:p>
        </p:txBody>
      </p:sp>
      <p:sp>
        <p:nvSpPr>
          <p:cNvPr id="5" name="Text 2"/>
          <p:cNvSpPr/>
          <p:nvPr/>
        </p:nvSpPr>
        <p:spPr>
          <a:xfrm>
            <a:off x="1097280" y="2834640"/>
            <a:ext cx="6949440" cy="457200"/>
          </a:xfrm>
          <a:prstGeom prst="rect">
            <a:avLst/>
          </a:prstGeom>
          <a:noFill/>
          <a:ln/>
        </p:spPr>
        <p:txBody>
          <a:bodyPr wrap="square" rtlCol="0" anchor="ctr"/>
          <a:lstStyle/>
          <a:p>
            <a:pPr marL="0" indent="0" algn="ctr">
              <a:buNone/>
            </a:pPr>
            <a:r>
              <a:rPr lang="en-US" sz="1500" dirty="0">
                <a:solidFill>
                  <a:srgbClr val="CADCFC"/>
                </a:solidFill>
                <a:latin typeface="Calibri" pitchFamily="34" charset="0"/>
                <a:ea typeface="Calibri" pitchFamily="34" charset="-122"/>
                <a:cs typeface="Calibri" pitchFamily="34" charset="-120"/>
              </a:rPr>
              <a:t>Which states and communities face the greatest risk?</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1A2E"/>
          </a:solidFill>
          <a:ln/>
        </p:spPr>
        <p:txBody>
          <a:bodyPr/>
          <a:lstStyle/>
          <a:p>
            <a:endParaRPr lang="en-US"/>
          </a:p>
        </p:txBody>
      </p:sp>
      <p:sp>
        <p:nvSpPr>
          <p:cNvPr id="3" name="Text 1"/>
          <p:cNvSpPr/>
          <p:nvPr/>
        </p:nvSpPr>
        <p:spPr>
          <a:xfrm>
            <a:off x="457200" y="109728"/>
            <a:ext cx="8229600" cy="5486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Top 15 Most Impacted States (20% Medicaid Cut)</a:t>
            </a:r>
            <a:endParaRPr lang="en-US" sz="2200" dirty="0"/>
          </a:p>
        </p:txBody>
      </p:sp>
      <p:pic>
        <p:nvPicPr>
          <p:cNvPr id="4" name="Image 0" descr="nb_images/cell22_fig2.png"/>
          <p:cNvPicPr>
            <a:picLocks noChangeAspect="1"/>
          </p:cNvPicPr>
          <p:nvPr/>
        </p:nvPicPr>
        <p:blipFill>
          <a:blip r:embed="rId3"/>
          <a:srcRect/>
          <a:stretch/>
        </p:blipFill>
        <p:spPr>
          <a:xfrm>
            <a:off x="182880" y="868680"/>
            <a:ext cx="5029200" cy="3017520"/>
          </a:xfrm>
          <a:prstGeom prst="rect">
            <a:avLst/>
          </a:prstGeom>
        </p:spPr>
      </p:pic>
      <p:sp>
        <p:nvSpPr>
          <p:cNvPr id="5" name="Shape 2"/>
          <p:cNvSpPr/>
          <p:nvPr/>
        </p:nvSpPr>
        <p:spPr>
          <a:xfrm>
            <a:off x="5486400" y="868680"/>
            <a:ext cx="3383280" cy="3017520"/>
          </a:xfrm>
          <a:prstGeom prst="rect">
            <a:avLst/>
          </a:prstGeom>
          <a:solidFill>
            <a:srgbClr val="F5F6FA"/>
          </a:solidFill>
          <a:ln/>
          <a:effectLst>
            <a:outerShdw blurRad="50800" dist="25400" dir="8100000" algn="bl" rotWithShape="0">
              <a:srgbClr val="000000">
                <a:alpha val="8000"/>
              </a:srgbClr>
            </a:outerShdw>
          </a:effectLst>
        </p:spPr>
        <p:txBody>
          <a:bodyPr/>
          <a:lstStyle/>
          <a:p>
            <a:endParaRPr lang="en-US"/>
          </a:p>
        </p:txBody>
      </p:sp>
      <p:sp>
        <p:nvSpPr>
          <p:cNvPr id="6" name="Text 3"/>
          <p:cNvSpPr/>
          <p:nvPr/>
        </p:nvSpPr>
        <p:spPr>
          <a:xfrm>
            <a:off x="5669280" y="960120"/>
            <a:ext cx="3017520" cy="274320"/>
          </a:xfrm>
          <a:prstGeom prst="rect">
            <a:avLst/>
          </a:prstGeom>
          <a:noFill/>
          <a:ln/>
        </p:spPr>
        <p:txBody>
          <a:bodyPr wrap="square" rtlCol="0" anchor="ctr"/>
          <a:lstStyle/>
          <a:p>
            <a:pPr marL="0" indent="0">
              <a:buNone/>
            </a:pPr>
            <a:r>
              <a:rPr lang="en-US" sz="1300" b="1" dirty="0">
                <a:solidFill>
                  <a:srgbClr val="C0392B"/>
                </a:solidFill>
                <a:latin typeface="Georgia" pitchFamily="34" charset="0"/>
                <a:ea typeface="Georgia" pitchFamily="34" charset="-122"/>
                <a:cs typeface="Georgia" pitchFamily="34" charset="-120"/>
              </a:rPr>
              <a:t>State-Level Patterns</a:t>
            </a:r>
            <a:endParaRPr lang="en-US" sz="1300" dirty="0"/>
          </a:p>
        </p:txBody>
      </p:sp>
      <p:sp>
        <p:nvSpPr>
          <p:cNvPr id="7" name="Text 4"/>
          <p:cNvSpPr/>
          <p:nvPr/>
        </p:nvSpPr>
        <p:spPr>
          <a:xfrm>
            <a:off x="5669280" y="1325880"/>
            <a:ext cx="3017520" cy="2468880"/>
          </a:xfrm>
          <a:prstGeom prst="rect">
            <a:avLst/>
          </a:prstGeom>
          <a:noFill/>
          <a:ln/>
        </p:spPr>
        <p:txBody>
          <a:bodyPr wrap="square" rtlCol="0" anchor="ctr"/>
          <a:lstStyle/>
          <a:p>
            <a:pPr marL="0" indent="0">
              <a:buNone/>
            </a:pPr>
            <a:r>
              <a:rPr lang="en-US" sz="1000" dirty="0">
                <a:solidFill>
                  <a:srgbClr val="2C3E50"/>
                </a:solidFill>
                <a:latin typeface="Calibri" pitchFamily="34" charset="0"/>
                <a:ea typeface="Calibri" pitchFamily="34" charset="-122"/>
                <a:cs typeface="Calibri" pitchFamily="34" charset="-120"/>
              </a:rPr>
              <a:t>Kansas (53%), Alabama (48%), Arkansas (48%): Heavily rural states with many small hospitals near break-even.</a:t>
            </a:r>
            <a:endParaRPr lang="en-US" sz="1000" dirty="0"/>
          </a:p>
          <a:p>
            <a:pPr marL="0" indent="0">
              <a:buNone/>
            </a:pPr>
            <a:endParaRPr lang="en-US" sz="1000" dirty="0"/>
          </a:p>
          <a:p>
            <a:pPr marL="0" indent="0">
              <a:buNone/>
            </a:pPr>
            <a:r>
              <a:rPr lang="en-US" sz="1000" dirty="0">
                <a:solidFill>
                  <a:srgbClr val="2C3E50"/>
                </a:solidFill>
                <a:latin typeface="Calibri" pitchFamily="34" charset="0"/>
                <a:ea typeface="Calibri" pitchFamily="34" charset="-122"/>
                <a:cs typeface="Calibri" pitchFamily="34" charset="-120"/>
              </a:rPr>
              <a:t>New York (35%), Massachusetts (47%): Safety-net hospitals with very high Medicaid populations (50-80%).</a:t>
            </a:r>
            <a:endParaRPr lang="en-US" sz="1000" dirty="0"/>
          </a:p>
          <a:p>
            <a:pPr marL="0" indent="0">
              <a:buNone/>
            </a:pPr>
            <a:endParaRPr lang="en-US" sz="1000" dirty="0"/>
          </a:p>
          <a:p>
            <a:pPr marL="0" indent="0">
              <a:buNone/>
            </a:pPr>
            <a:r>
              <a:rPr lang="en-US" sz="1000" dirty="0">
                <a:solidFill>
                  <a:srgbClr val="2C3E50"/>
                </a:solidFill>
                <a:latin typeface="Calibri" pitchFamily="34" charset="0"/>
                <a:ea typeface="Calibri" pitchFamily="34" charset="-122"/>
                <a:cs typeface="Calibri" pitchFamily="34" charset="-120"/>
              </a:rPr>
              <a:t>Oklahoma (42%), Louisiana (41%): Non-expansion or high-poverty states with limited commercial revenue to cross-subsidize.</a:t>
            </a:r>
            <a:endParaRPr lang="en-US" sz="1000" dirty="0"/>
          </a:p>
          <a:p>
            <a:pPr marL="0" indent="0">
              <a:buNone/>
            </a:pPr>
            <a:endParaRPr lang="en-US" sz="1000" dirty="0"/>
          </a:p>
          <a:p>
            <a:pPr marL="0" indent="0">
              <a:buNone/>
            </a:pPr>
            <a:r>
              <a:rPr lang="en-US" sz="1000" dirty="0">
                <a:solidFill>
                  <a:srgbClr val="2C3E50"/>
                </a:solidFill>
                <a:latin typeface="Calibri" pitchFamily="34" charset="0"/>
                <a:ea typeface="Calibri" pitchFamily="34" charset="-122"/>
                <a:cs typeface="Calibri" pitchFamily="34" charset="-120"/>
              </a:rPr>
              <a:t>Texas (35%): Largest absolute number at risk (126 hospitals) due to sheer size.</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1A2E"/>
          </a:solidFill>
          <a:ln/>
        </p:spPr>
        <p:txBody>
          <a:bodyPr/>
          <a:lstStyle/>
          <a:p>
            <a:endParaRPr lang="en-US"/>
          </a:p>
        </p:txBody>
      </p:sp>
      <p:sp>
        <p:nvSpPr>
          <p:cNvPr id="3" name="Text 1"/>
          <p:cNvSpPr/>
          <p:nvPr/>
        </p:nvSpPr>
        <p:spPr>
          <a:xfrm>
            <a:off x="457200" y="109728"/>
            <a:ext cx="8229600" cy="5486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Top 13 Most At-Risk Hospitals (by Medicaid Dependence)</a:t>
            </a:r>
            <a:endParaRPr lang="en-US" sz="2200" dirty="0"/>
          </a:p>
        </p:txBody>
      </p:sp>
      <p:sp>
        <p:nvSpPr>
          <p:cNvPr id="4" name="Text 2"/>
          <p:cNvSpPr/>
          <p:nvPr/>
        </p:nvSpPr>
        <p:spPr>
          <a:xfrm>
            <a:off x="457200" y="868680"/>
            <a:ext cx="8229600" cy="320040"/>
          </a:xfrm>
          <a:prstGeom prst="rect">
            <a:avLst/>
          </a:prstGeom>
          <a:noFill/>
          <a:ln/>
        </p:spPr>
        <p:txBody>
          <a:bodyPr wrap="square" rtlCol="0" anchor="ctr"/>
          <a:lstStyle/>
          <a:p>
            <a:pPr marL="0" indent="0">
              <a:buNone/>
            </a:pPr>
            <a:r>
              <a:rPr lang="en-US" sz="1000" i="1" dirty="0">
                <a:solidFill>
                  <a:srgbClr val="6C7A89"/>
                </a:solidFill>
                <a:latin typeface="Calibri" pitchFamily="34" charset="0"/>
                <a:ea typeface="Calibri" pitchFamily="34" charset="-122"/>
                <a:cs typeface="Calibri" pitchFamily="34" charset="-120"/>
              </a:rPr>
              <a:t>These hospitals have both negative operating margins AND the highest Medicaid patient percentages- the combination most vulnerable to OBBBA cuts.</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7040880" cy="3602736"/>
        </p:xfrm>
        <a:graphic>
          <a:graphicData uri="http://schemas.openxmlformats.org/drawingml/2006/table">
            <a:tbl>
              <a:tblPr/>
              <a:tblGrid>
                <a:gridCol w="29260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274320">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Hospital</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A1A2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City</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A1A2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A1A2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Beds</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A1A2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Op. Margin</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A1A2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Medicaid %</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A1A2E"/>
                    </a:solidFill>
                  </a:tcPr>
                </a:tc>
                <a:extLst>
                  <a:ext uri="{0D108BD9-81ED-4DB2-BD59-A6C34878D82A}">
                    <a16:rowId xmlns:a16="http://schemas.microsoft.com/office/drawing/2014/main" val="10000"/>
                  </a:ext>
                </a:extLst>
              </a:tr>
              <a:tr h="256032">
                <a:tc>
                  <a:txBody>
                    <a:bodyPr/>
                    <a:lstStyle/>
                    <a:p>
                      <a:pPr marL="0" indent="0" algn="l">
                        <a:buNone/>
                      </a:pPr>
                      <a:r>
                        <a:rPr lang="en-US" sz="900" dirty="0">
                          <a:solidFill>
                            <a:srgbClr val="2C3E50"/>
                          </a:solidFill>
                          <a:latin typeface="Calibri" pitchFamily="34" charset="0"/>
                          <a:ea typeface="Calibri" pitchFamily="34" charset="-122"/>
                          <a:cs typeface="Calibri" pitchFamily="34" charset="-120"/>
                        </a:rPr>
                        <a:t>Lincoln Medical &amp; Mental Health Ctr</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Bronx</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NY</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287</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b="1" dirty="0">
                          <a:solidFill>
                            <a:srgbClr val="E74C3C"/>
                          </a:solidFill>
                          <a:latin typeface="Calibri" pitchFamily="34" charset="0"/>
                          <a:ea typeface="Calibri" pitchFamily="34" charset="-122"/>
                          <a:cs typeface="Calibri" pitchFamily="34" charset="-120"/>
                        </a:rPr>
                        <a:t>-3.0%</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83.1%</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lgn="l">
                        <a:buNone/>
                      </a:pPr>
                      <a:r>
                        <a:rPr lang="en-US" sz="900" dirty="0">
                          <a:solidFill>
                            <a:srgbClr val="2C3E50"/>
                          </a:solidFill>
                          <a:latin typeface="Calibri" pitchFamily="34" charset="0"/>
                          <a:ea typeface="Calibri" pitchFamily="34" charset="-122"/>
                          <a:cs typeface="Calibri" pitchFamily="34" charset="-120"/>
                        </a:rPr>
                        <a:t>Laguna Honda Hospital</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San Francisco</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CA</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b="1" dirty="0">
                          <a:solidFill>
                            <a:srgbClr val="E74C3C"/>
                          </a:solidFill>
                          <a:latin typeface="Calibri" pitchFamily="34" charset="0"/>
                          <a:ea typeface="Calibri" pitchFamily="34" charset="-122"/>
                          <a:cs typeface="Calibri" pitchFamily="34" charset="-120"/>
                        </a:rPr>
                        <a:t>-110.1%</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80.1%</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r h="256032">
                <a:tc>
                  <a:txBody>
                    <a:bodyPr/>
                    <a:lstStyle/>
                    <a:p>
                      <a:pPr marL="0" indent="0" algn="l">
                        <a:buNone/>
                      </a:pPr>
                      <a:r>
                        <a:rPr lang="en-US" sz="900" dirty="0">
                          <a:solidFill>
                            <a:srgbClr val="2C3E50"/>
                          </a:solidFill>
                          <a:latin typeface="Calibri" pitchFamily="34" charset="0"/>
                          <a:ea typeface="Calibri" pitchFamily="34" charset="-122"/>
                          <a:cs typeface="Calibri" pitchFamily="34" charset="-120"/>
                        </a:rPr>
                        <a:t>Bellevue Hospital Center</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New York</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NY</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527</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b="1" dirty="0">
                          <a:solidFill>
                            <a:srgbClr val="E74C3C"/>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79.6%</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lgn="l">
                        <a:buNone/>
                      </a:pPr>
                      <a:r>
                        <a:rPr lang="en-US" sz="900" dirty="0">
                          <a:solidFill>
                            <a:srgbClr val="2C3E50"/>
                          </a:solidFill>
                          <a:latin typeface="Calibri" pitchFamily="34" charset="0"/>
                          <a:ea typeface="Calibri" pitchFamily="34" charset="-122"/>
                          <a:cs typeface="Calibri" pitchFamily="34" charset="-120"/>
                        </a:rPr>
                        <a:t>College Hospital Costa Mesa</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Costa Mesa</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CA</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122</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b="1" dirty="0">
                          <a:solidFill>
                            <a:srgbClr val="E74C3C"/>
                          </a:solidFill>
                          <a:latin typeface="Calibri" pitchFamily="34" charset="0"/>
                          <a:ea typeface="Calibri" pitchFamily="34" charset="-122"/>
                          <a:cs typeface="Calibri" pitchFamily="34" charset="-120"/>
                        </a:rPr>
                        <a:t>-21.0%</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78.0%</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extLst>
                  <a:ext uri="{0D108BD9-81ED-4DB2-BD59-A6C34878D82A}">
                    <a16:rowId xmlns:a16="http://schemas.microsoft.com/office/drawing/2014/main" val="10004"/>
                  </a:ext>
                </a:extLst>
              </a:tr>
              <a:tr h="256032">
                <a:tc>
                  <a:txBody>
                    <a:bodyPr/>
                    <a:lstStyle/>
                    <a:p>
                      <a:pPr marL="0" indent="0" algn="l">
                        <a:buNone/>
                      </a:pPr>
                      <a:r>
                        <a:rPr lang="en-US" sz="900" dirty="0">
                          <a:solidFill>
                            <a:srgbClr val="2C3E50"/>
                          </a:solidFill>
                          <a:latin typeface="Calibri" pitchFamily="34" charset="0"/>
                          <a:ea typeface="Calibri" pitchFamily="34" charset="-122"/>
                          <a:cs typeface="Calibri" pitchFamily="34" charset="-120"/>
                        </a:rPr>
                        <a:t>Jacobi Medical Center</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Bronx</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NY</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440</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b="1" dirty="0">
                          <a:solidFill>
                            <a:srgbClr val="E74C3C"/>
                          </a:solidFill>
                          <a:latin typeface="Calibri" pitchFamily="34" charset="0"/>
                          <a:ea typeface="Calibri" pitchFamily="34" charset="-122"/>
                          <a:cs typeface="Calibri" pitchFamily="34" charset="-120"/>
                        </a:rPr>
                        <a:t>-3.9%</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75.3%</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5"/>
                  </a:ext>
                </a:extLst>
              </a:tr>
              <a:tr h="256032">
                <a:tc>
                  <a:txBody>
                    <a:bodyPr/>
                    <a:lstStyle/>
                    <a:p>
                      <a:pPr marL="0" indent="0" algn="l">
                        <a:buNone/>
                      </a:pPr>
                      <a:r>
                        <a:rPr lang="en-US" sz="900" dirty="0">
                          <a:solidFill>
                            <a:srgbClr val="2C3E50"/>
                          </a:solidFill>
                          <a:latin typeface="Calibri" pitchFamily="34" charset="0"/>
                          <a:ea typeface="Calibri" pitchFamily="34" charset="-122"/>
                          <a:cs typeface="Calibri" pitchFamily="34" charset="-120"/>
                        </a:rPr>
                        <a:t>Adair County Health Center</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Stilwell</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30</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b="1" dirty="0">
                          <a:solidFill>
                            <a:srgbClr val="E74C3C"/>
                          </a:solidFill>
                          <a:latin typeface="Calibri" pitchFamily="34" charset="0"/>
                          <a:ea typeface="Calibri" pitchFamily="34" charset="-122"/>
                          <a:cs typeface="Calibri" pitchFamily="34" charset="-120"/>
                        </a:rPr>
                        <a:t>-0.1%</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74.8%</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extLst>
                  <a:ext uri="{0D108BD9-81ED-4DB2-BD59-A6C34878D82A}">
                    <a16:rowId xmlns:a16="http://schemas.microsoft.com/office/drawing/2014/main" val="10006"/>
                  </a:ext>
                </a:extLst>
              </a:tr>
              <a:tr h="256032">
                <a:tc>
                  <a:txBody>
                    <a:bodyPr/>
                    <a:lstStyle/>
                    <a:p>
                      <a:pPr marL="0" indent="0" algn="l">
                        <a:buNone/>
                      </a:pPr>
                      <a:r>
                        <a:rPr lang="en-US" sz="900" dirty="0">
                          <a:solidFill>
                            <a:srgbClr val="2C3E50"/>
                          </a:solidFill>
                          <a:latin typeface="Calibri" pitchFamily="34" charset="0"/>
                          <a:ea typeface="Calibri" pitchFamily="34" charset="-122"/>
                          <a:cs typeface="Calibri" pitchFamily="34" charset="-120"/>
                        </a:rPr>
                        <a:t>Loma Linda Univ Childrens Hosp</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Loma Linda</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CA</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364</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b="1" dirty="0">
                          <a:solidFill>
                            <a:srgbClr val="E74C3C"/>
                          </a:solidFill>
                          <a:latin typeface="Calibri" pitchFamily="34" charset="0"/>
                          <a:ea typeface="Calibri" pitchFamily="34" charset="-122"/>
                          <a:cs typeface="Calibri" pitchFamily="34" charset="-120"/>
                        </a:rPr>
                        <a:t>-16.6%</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72.7%</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7"/>
                  </a:ext>
                </a:extLst>
              </a:tr>
              <a:tr h="256032">
                <a:tc>
                  <a:txBody>
                    <a:bodyPr/>
                    <a:lstStyle/>
                    <a:p>
                      <a:pPr marL="0" indent="0" algn="l">
                        <a:buNone/>
                      </a:pPr>
                      <a:r>
                        <a:rPr lang="en-US" sz="900" dirty="0">
                          <a:solidFill>
                            <a:srgbClr val="2C3E50"/>
                          </a:solidFill>
                          <a:latin typeface="Calibri" pitchFamily="34" charset="0"/>
                          <a:ea typeface="Calibri" pitchFamily="34" charset="-122"/>
                          <a:cs typeface="Calibri" pitchFamily="34" charset="-120"/>
                        </a:rPr>
                        <a:t>Metropolitan Hospital Center</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New York</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NY</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196</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b="1" dirty="0">
                          <a:solidFill>
                            <a:srgbClr val="E74C3C"/>
                          </a:solidFill>
                          <a:latin typeface="Calibri" pitchFamily="34" charset="0"/>
                          <a:ea typeface="Calibri" pitchFamily="34" charset="-122"/>
                          <a:cs typeface="Calibri" pitchFamily="34" charset="-120"/>
                        </a:rPr>
                        <a:t>-2.7%</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72.0%</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extLst>
                  <a:ext uri="{0D108BD9-81ED-4DB2-BD59-A6C34878D82A}">
                    <a16:rowId xmlns:a16="http://schemas.microsoft.com/office/drawing/2014/main" val="10008"/>
                  </a:ext>
                </a:extLst>
              </a:tr>
              <a:tr h="256032">
                <a:tc>
                  <a:txBody>
                    <a:bodyPr/>
                    <a:lstStyle/>
                    <a:p>
                      <a:pPr marL="0" indent="0" algn="l">
                        <a:buNone/>
                      </a:pPr>
                      <a:r>
                        <a:rPr lang="en-US" sz="900" dirty="0">
                          <a:solidFill>
                            <a:srgbClr val="2C3E50"/>
                          </a:solidFill>
                          <a:latin typeface="Calibri" pitchFamily="34" charset="0"/>
                          <a:ea typeface="Calibri" pitchFamily="34" charset="-122"/>
                          <a:cs typeface="Calibri" pitchFamily="34" charset="-120"/>
                        </a:rPr>
                        <a:t>NYC Health+Hospital / S. Brooklyn</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Brooklyn</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NY</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252</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b="1" dirty="0">
                          <a:solidFill>
                            <a:srgbClr val="E74C3C"/>
                          </a:solidFill>
                          <a:latin typeface="Calibri" pitchFamily="34" charset="0"/>
                          <a:ea typeface="Calibri" pitchFamily="34" charset="-122"/>
                          <a:cs typeface="Calibri" pitchFamily="34" charset="-120"/>
                        </a:rPr>
                        <a:t>-0.9%</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71.0%</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9"/>
                  </a:ext>
                </a:extLst>
              </a:tr>
              <a:tr h="256032">
                <a:tc>
                  <a:txBody>
                    <a:bodyPr/>
                    <a:lstStyle/>
                    <a:p>
                      <a:pPr marL="0" indent="0" algn="l">
                        <a:buNone/>
                      </a:pPr>
                      <a:r>
                        <a:rPr lang="en-US" sz="900" dirty="0">
                          <a:solidFill>
                            <a:srgbClr val="2C3E50"/>
                          </a:solidFill>
                          <a:latin typeface="Calibri" pitchFamily="34" charset="0"/>
                          <a:ea typeface="Calibri" pitchFamily="34" charset="-122"/>
                          <a:cs typeface="Calibri" pitchFamily="34" charset="-120"/>
                        </a:rPr>
                        <a:t>Martin Luther King Community Hosp</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Los Angeles</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CA</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152</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b="1" dirty="0">
                          <a:solidFill>
                            <a:srgbClr val="E74C3C"/>
                          </a:solidFill>
                          <a:latin typeface="Calibri" pitchFamily="34" charset="0"/>
                          <a:ea typeface="Calibri" pitchFamily="34" charset="-122"/>
                          <a:cs typeface="Calibri" pitchFamily="34" charset="-120"/>
                        </a:rPr>
                        <a:t>-124.0%</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71.0%</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extLst>
                  <a:ext uri="{0D108BD9-81ED-4DB2-BD59-A6C34878D82A}">
                    <a16:rowId xmlns:a16="http://schemas.microsoft.com/office/drawing/2014/main" val="10010"/>
                  </a:ext>
                </a:extLst>
              </a:tr>
              <a:tr h="256032">
                <a:tc>
                  <a:txBody>
                    <a:bodyPr/>
                    <a:lstStyle/>
                    <a:p>
                      <a:pPr marL="0" indent="0" algn="l">
                        <a:buNone/>
                      </a:pPr>
                      <a:r>
                        <a:rPr lang="en-US" sz="900" dirty="0">
                          <a:solidFill>
                            <a:srgbClr val="2C3E50"/>
                          </a:solidFill>
                          <a:latin typeface="Calibri" pitchFamily="34" charset="0"/>
                          <a:ea typeface="Calibri" pitchFamily="34" charset="-122"/>
                          <a:cs typeface="Calibri" pitchFamily="34" charset="-120"/>
                        </a:rPr>
                        <a:t>Kern Medical Center</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Bakersfield</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CA</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222</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b="1" dirty="0">
                          <a:solidFill>
                            <a:srgbClr val="E74C3C"/>
                          </a:solidFill>
                          <a:latin typeface="Calibri" pitchFamily="34" charset="0"/>
                          <a:ea typeface="Calibri" pitchFamily="34" charset="-122"/>
                          <a:cs typeface="Calibri" pitchFamily="34" charset="-120"/>
                        </a:rPr>
                        <a:t>-31.9%</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68.9%</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11"/>
                  </a:ext>
                </a:extLst>
              </a:tr>
              <a:tr h="256032">
                <a:tc>
                  <a:txBody>
                    <a:bodyPr/>
                    <a:lstStyle/>
                    <a:p>
                      <a:pPr marL="0" indent="0" algn="l">
                        <a:buNone/>
                      </a:pPr>
                      <a:r>
                        <a:rPr lang="en-US" sz="900" dirty="0">
                          <a:solidFill>
                            <a:srgbClr val="2C3E50"/>
                          </a:solidFill>
                          <a:latin typeface="Calibri" pitchFamily="34" charset="0"/>
                          <a:ea typeface="Calibri" pitchFamily="34" charset="-122"/>
                          <a:cs typeface="Calibri" pitchFamily="34" charset="-120"/>
                        </a:rPr>
                        <a:t>San Mateo Medical Center</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San Mateo</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CA</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69</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b="1" dirty="0">
                          <a:solidFill>
                            <a:srgbClr val="E74C3C"/>
                          </a:solidFill>
                          <a:latin typeface="Calibri" pitchFamily="34" charset="0"/>
                          <a:ea typeface="Calibri" pitchFamily="34" charset="-122"/>
                          <a:cs typeface="Calibri" pitchFamily="34" charset="-120"/>
                        </a:rPr>
                        <a:t>-97.8%</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68.7%</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extLst>
                  <a:ext uri="{0D108BD9-81ED-4DB2-BD59-A6C34878D82A}">
                    <a16:rowId xmlns:a16="http://schemas.microsoft.com/office/drawing/2014/main" val="10012"/>
                  </a:ext>
                </a:extLst>
              </a:tr>
              <a:tr h="256032">
                <a:tc>
                  <a:txBody>
                    <a:bodyPr/>
                    <a:lstStyle/>
                    <a:p>
                      <a:pPr marL="0" indent="0" algn="l">
                        <a:buNone/>
                      </a:pPr>
                      <a:r>
                        <a:rPr lang="en-US" sz="900" dirty="0">
                          <a:solidFill>
                            <a:srgbClr val="2C3E50"/>
                          </a:solidFill>
                          <a:latin typeface="Calibri" pitchFamily="34" charset="0"/>
                          <a:ea typeface="Calibri" pitchFamily="34" charset="-122"/>
                          <a:cs typeface="Calibri" pitchFamily="34" charset="-120"/>
                        </a:rPr>
                        <a:t>Adventist Health Reedley</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Reedley</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CA</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49</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b="1" dirty="0">
                          <a:solidFill>
                            <a:srgbClr val="E74C3C"/>
                          </a:solidFill>
                          <a:latin typeface="Calibri" pitchFamily="34" charset="0"/>
                          <a:ea typeface="Calibri" pitchFamily="34" charset="-122"/>
                          <a:cs typeface="Calibri" pitchFamily="34" charset="-120"/>
                        </a:rPr>
                        <a:t>-0.1%</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65.6%</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6" name="Text 3"/>
          <p:cNvSpPr/>
          <p:nvPr/>
        </p:nvSpPr>
        <p:spPr>
          <a:xfrm>
            <a:off x="457200" y="4709160"/>
            <a:ext cx="8229600" cy="274320"/>
          </a:xfrm>
          <a:prstGeom prst="rect">
            <a:avLst/>
          </a:prstGeom>
          <a:noFill/>
          <a:ln/>
        </p:spPr>
        <p:txBody>
          <a:bodyPr wrap="square"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Dominated by California (safety-net county hospitals) and New York (NYC Health + Hospitals system)</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1A2E"/>
          </a:solidFill>
          <a:ln/>
        </p:spPr>
        <p:txBody>
          <a:bodyPr/>
          <a:lstStyle/>
          <a:p>
            <a:endParaRPr lang="en-US"/>
          </a:p>
        </p:txBody>
      </p:sp>
      <p:sp>
        <p:nvSpPr>
          <p:cNvPr id="3" name="Text 1"/>
          <p:cNvSpPr/>
          <p:nvPr/>
        </p:nvSpPr>
        <p:spPr>
          <a:xfrm>
            <a:off x="457200" y="109728"/>
            <a:ext cx="8229600" cy="5486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Top 25 Most At-Risk Hospitals (continued: #14-25)</a:t>
            </a:r>
            <a:endParaRPr lang="en-US" sz="2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7040880" cy="3346704"/>
        </p:xfrm>
        <a:graphic>
          <a:graphicData uri="http://schemas.openxmlformats.org/drawingml/2006/table">
            <a:tbl>
              <a:tblPr/>
              <a:tblGrid>
                <a:gridCol w="29260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274320">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Hospital</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A1A2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City</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A1A2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A1A2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Beds</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A1A2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Op. Margin</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A1A2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Medicaid %</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A1A2E"/>
                    </a:solidFill>
                  </a:tcPr>
                </a:tc>
                <a:extLst>
                  <a:ext uri="{0D108BD9-81ED-4DB2-BD59-A6C34878D82A}">
                    <a16:rowId xmlns:a16="http://schemas.microsoft.com/office/drawing/2014/main" val="10000"/>
                  </a:ext>
                </a:extLst>
              </a:tr>
              <a:tr h="256032">
                <a:tc>
                  <a:txBody>
                    <a:bodyPr/>
                    <a:lstStyle/>
                    <a:p>
                      <a:pPr marL="0" indent="0" algn="l">
                        <a:buNone/>
                      </a:pPr>
                      <a:r>
                        <a:rPr lang="en-US" sz="900" dirty="0">
                          <a:solidFill>
                            <a:srgbClr val="2C3E50"/>
                          </a:solidFill>
                          <a:latin typeface="Calibri" pitchFamily="34" charset="0"/>
                          <a:ea typeface="Calibri" pitchFamily="34" charset="-122"/>
                          <a:cs typeface="Calibri" pitchFamily="34" charset="-120"/>
                        </a:rPr>
                        <a:t>Arrowhead Regional Medical Ctr</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Colton</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CA</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366</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b="1" dirty="0">
                          <a:solidFill>
                            <a:srgbClr val="E74C3C"/>
                          </a:solidFill>
                          <a:latin typeface="Calibri" pitchFamily="34" charset="0"/>
                          <a:ea typeface="Calibri" pitchFamily="34" charset="-122"/>
                          <a:cs typeface="Calibri" pitchFamily="34" charset="-120"/>
                        </a:rPr>
                        <a:t>-45.5%</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62.2%</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lgn="l">
                        <a:buNone/>
                      </a:pPr>
                      <a:r>
                        <a:rPr lang="en-US" sz="900" dirty="0">
                          <a:solidFill>
                            <a:srgbClr val="2C3E50"/>
                          </a:solidFill>
                          <a:latin typeface="Calibri" pitchFamily="34" charset="0"/>
                          <a:ea typeface="Calibri" pitchFamily="34" charset="-122"/>
                          <a:cs typeface="Calibri" pitchFamily="34" charset="-120"/>
                        </a:rPr>
                        <a:t>Alameda Health System</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Oakland</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CA</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232</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b="1" dirty="0">
                          <a:solidFill>
                            <a:srgbClr val="E74C3C"/>
                          </a:solidFill>
                          <a:latin typeface="Calibri" pitchFamily="34" charset="0"/>
                          <a:ea typeface="Calibri" pitchFamily="34" charset="-122"/>
                          <a:cs typeface="Calibri" pitchFamily="34" charset="-120"/>
                        </a:rPr>
                        <a:t>-213.1%</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60.7%</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r h="256032">
                <a:tc>
                  <a:txBody>
                    <a:bodyPr/>
                    <a:lstStyle/>
                    <a:p>
                      <a:pPr marL="0" indent="0" algn="l">
                        <a:buNone/>
                      </a:pPr>
                      <a:r>
                        <a:rPr lang="en-US" sz="900" dirty="0">
                          <a:solidFill>
                            <a:srgbClr val="2C3E50"/>
                          </a:solidFill>
                          <a:latin typeface="Calibri" pitchFamily="34" charset="0"/>
                          <a:ea typeface="Calibri" pitchFamily="34" charset="-122"/>
                          <a:cs typeface="Calibri" pitchFamily="34" charset="-120"/>
                        </a:rPr>
                        <a:t>Harlem Hospital Center</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New York</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NY</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217</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b="1" dirty="0">
                          <a:solidFill>
                            <a:srgbClr val="E74C3C"/>
                          </a:solidFill>
                          <a:latin typeface="Calibri" pitchFamily="34" charset="0"/>
                          <a:ea typeface="Calibri" pitchFamily="34" charset="-122"/>
                          <a:cs typeface="Calibri" pitchFamily="34" charset="-120"/>
                        </a:rPr>
                        <a:t>-0.6%</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59.7%</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lgn="l">
                        <a:buNone/>
                      </a:pPr>
                      <a:r>
                        <a:rPr lang="en-US" sz="900" dirty="0">
                          <a:solidFill>
                            <a:srgbClr val="2C3E50"/>
                          </a:solidFill>
                          <a:latin typeface="Calibri" pitchFamily="34" charset="0"/>
                          <a:ea typeface="Calibri" pitchFamily="34" charset="-122"/>
                          <a:cs typeface="Calibri" pitchFamily="34" charset="-120"/>
                        </a:rPr>
                        <a:t>Los Angeles Community Hospital</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Los Angeles</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CA</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173</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b="1" dirty="0">
                          <a:solidFill>
                            <a:srgbClr val="E74C3C"/>
                          </a:solidFill>
                          <a:latin typeface="Calibri" pitchFamily="34" charset="0"/>
                          <a:ea typeface="Calibri" pitchFamily="34" charset="-122"/>
                          <a:cs typeface="Calibri" pitchFamily="34" charset="-120"/>
                        </a:rPr>
                        <a:t>-6.3%</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59.6%</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extLst>
                  <a:ext uri="{0D108BD9-81ED-4DB2-BD59-A6C34878D82A}">
                    <a16:rowId xmlns:a16="http://schemas.microsoft.com/office/drawing/2014/main" val="10004"/>
                  </a:ext>
                </a:extLst>
              </a:tr>
              <a:tr h="256032">
                <a:tc>
                  <a:txBody>
                    <a:bodyPr/>
                    <a:lstStyle/>
                    <a:p>
                      <a:pPr marL="0" indent="0" algn="l">
                        <a:buNone/>
                      </a:pPr>
                      <a:r>
                        <a:rPr lang="en-US" sz="900" dirty="0">
                          <a:solidFill>
                            <a:srgbClr val="2C3E50"/>
                          </a:solidFill>
                          <a:latin typeface="Calibri" pitchFamily="34" charset="0"/>
                          <a:ea typeface="Calibri" pitchFamily="34" charset="-122"/>
                          <a:cs typeface="Calibri" pitchFamily="34" charset="-120"/>
                        </a:rPr>
                        <a:t>Othello Community Hospital</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Othello</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WA</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16</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b="1" dirty="0">
                          <a:solidFill>
                            <a:srgbClr val="E74C3C"/>
                          </a:solidFill>
                          <a:latin typeface="Calibri" pitchFamily="34" charset="0"/>
                          <a:ea typeface="Calibri" pitchFamily="34" charset="-122"/>
                          <a:cs typeface="Calibri" pitchFamily="34" charset="-120"/>
                        </a:rPr>
                        <a:t>-6.3%</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58.9%</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5"/>
                  </a:ext>
                </a:extLst>
              </a:tr>
              <a:tr h="256032">
                <a:tc>
                  <a:txBody>
                    <a:bodyPr/>
                    <a:lstStyle/>
                    <a:p>
                      <a:pPr marL="0" indent="0" algn="l">
                        <a:buNone/>
                      </a:pPr>
                      <a:r>
                        <a:rPr lang="en-US" sz="900" dirty="0">
                          <a:solidFill>
                            <a:srgbClr val="2C3E50"/>
                          </a:solidFill>
                          <a:latin typeface="Calibri" pitchFamily="34" charset="0"/>
                          <a:ea typeface="Calibri" pitchFamily="34" charset="-122"/>
                          <a:cs typeface="Calibri" pitchFamily="34" charset="-120"/>
                        </a:rPr>
                        <a:t>Kohala Hospital</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Kapaau</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HI</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b="1" dirty="0">
                          <a:solidFill>
                            <a:srgbClr val="E74C3C"/>
                          </a:solidFill>
                          <a:latin typeface="Calibri" pitchFamily="34" charset="0"/>
                          <a:ea typeface="Calibri" pitchFamily="34" charset="-122"/>
                          <a:cs typeface="Calibri" pitchFamily="34" charset="-120"/>
                        </a:rPr>
                        <a:t>-59.1%</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57.4%</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extLst>
                  <a:ext uri="{0D108BD9-81ED-4DB2-BD59-A6C34878D82A}">
                    <a16:rowId xmlns:a16="http://schemas.microsoft.com/office/drawing/2014/main" val="10006"/>
                  </a:ext>
                </a:extLst>
              </a:tr>
              <a:tr h="256032">
                <a:tc>
                  <a:txBody>
                    <a:bodyPr/>
                    <a:lstStyle/>
                    <a:p>
                      <a:pPr marL="0" indent="0" algn="l">
                        <a:buNone/>
                      </a:pPr>
                      <a:r>
                        <a:rPr lang="en-US" sz="900" dirty="0">
                          <a:solidFill>
                            <a:srgbClr val="2C3E50"/>
                          </a:solidFill>
                          <a:latin typeface="Calibri" pitchFamily="34" charset="0"/>
                          <a:ea typeface="Calibri" pitchFamily="34" charset="-122"/>
                          <a:cs typeface="Calibri" pitchFamily="34" charset="-120"/>
                        </a:rPr>
                        <a:t>Alameda Hospital</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Alameda</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CA</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66</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b="1" dirty="0">
                          <a:solidFill>
                            <a:srgbClr val="E74C3C"/>
                          </a:solidFill>
                          <a:latin typeface="Calibri" pitchFamily="34" charset="0"/>
                          <a:ea typeface="Calibri" pitchFamily="34" charset="-122"/>
                          <a:cs typeface="Calibri" pitchFamily="34" charset="-120"/>
                        </a:rPr>
                        <a:t>-39.9%</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56.6%</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7"/>
                  </a:ext>
                </a:extLst>
              </a:tr>
              <a:tr h="256032">
                <a:tc>
                  <a:txBody>
                    <a:bodyPr/>
                    <a:lstStyle/>
                    <a:p>
                      <a:pPr marL="0" indent="0" algn="l">
                        <a:buNone/>
                      </a:pPr>
                      <a:r>
                        <a:rPr lang="en-US" sz="900" dirty="0">
                          <a:solidFill>
                            <a:srgbClr val="2C3E50"/>
                          </a:solidFill>
                          <a:latin typeface="Calibri" pitchFamily="34" charset="0"/>
                          <a:ea typeface="Calibri" pitchFamily="34" charset="-122"/>
                          <a:cs typeface="Calibri" pitchFamily="34" charset="-120"/>
                        </a:rPr>
                        <a:t>St. Bernard Hospital</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Chicago</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IL</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114</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b="1" dirty="0">
                          <a:solidFill>
                            <a:srgbClr val="E74C3C"/>
                          </a:solidFill>
                          <a:latin typeface="Calibri" pitchFamily="34" charset="0"/>
                          <a:ea typeface="Calibri" pitchFamily="34" charset="-122"/>
                          <a:cs typeface="Calibri" pitchFamily="34" charset="-120"/>
                        </a:rPr>
                        <a:t>-25.5%</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56.2%</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extLst>
                  <a:ext uri="{0D108BD9-81ED-4DB2-BD59-A6C34878D82A}">
                    <a16:rowId xmlns:a16="http://schemas.microsoft.com/office/drawing/2014/main" val="10008"/>
                  </a:ext>
                </a:extLst>
              </a:tr>
              <a:tr h="256032">
                <a:tc>
                  <a:txBody>
                    <a:bodyPr/>
                    <a:lstStyle/>
                    <a:p>
                      <a:pPr marL="0" indent="0" algn="l">
                        <a:buNone/>
                      </a:pPr>
                      <a:r>
                        <a:rPr lang="en-US" sz="900" dirty="0">
                          <a:solidFill>
                            <a:srgbClr val="2C3E50"/>
                          </a:solidFill>
                          <a:latin typeface="Calibri" pitchFamily="34" charset="0"/>
                          <a:ea typeface="Calibri" pitchFamily="34" charset="-122"/>
                          <a:cs typeface="Calibri" pitchFamily="34" charset="-120"/>
                        </a:rPr>
                        <a:t>Natividad Medical Center</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Salinas</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CA</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144</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b="1" dirty="0">
                          <a:solidFill>
                            <a:srgbClr val="E74C3C"/>
                          </a:solidFill>
                          <a:latin typeface="Calibri" pitchFamily="34" charset="0"/>
                          <a:ea typeface="Calibri" pitchFamily="34" charset="-122"/>
                          <a:cs typeface="Calibri" pitchFamily="34" charset="-120"/>
                        </a:rPr>
                        <a:t>-11.6%</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53.9%</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9"/>
                  </a:ext>
                </a:extLst>
              </a:tr>
              <a:tr h="256032">
                <a:tc>
                  <a:txBody>
                    <a:bodyPr/>
                    <a:lstStyle/>
                    <a:p>
                      <a:pPr marL="0" indent="0" algn="l">
                        <a:buNone/>
                      </a:pPr>
                      <a:r>
                        <a:rPr lang="en-US" sz="900" dirty="0">
                          <a:solidFill>
                            <a:srgbClr val="2C3E50"/>
                          </a:solidFill>
                          <a:latin typeface="Calibri" pitchFamily="34" charset="0"/>
                          <a:ea typeface="Calibri" pitchFamily="34" charset="-122"/>
                          <a:cs typeface="Calibri" pitchFamily="34" charset="-120"/>
                        </a:rPr>
                        <a:t>Zuckerberg SF General</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San Francisco</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CA</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284</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b="1" dirty="0">
                          <a:solidFill>
                            <a:srgbClr val="E74C3C"/>
                          </a:solidFill>
                          <a:latin typeface="Calibri" pitchFamily="34" charset="0"/>
                          <a:ea typeface="Calibri" pitchFamily="34" charset="-122"/>
                          <a:cs typeface="Calibri" pitchFamily="34" charset="-120"/>
                        </a:rPr>
                        <a:t>-17.2%</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52.8%</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extLst>
                  <a:ext uri="{0D108BD9-81ED-4DB2-BD59-A6C34878D82A}">
                    <a16:rowId xmlns:a16="http://schemas.microsoft.com/office/drawing/2014/main" val="10010"/>
                  </a:ext>
                </a:extLst>
              </a:tr>
              <a:tr h="256032">
                <a:tc>
                  <a:txBody>
                    <a:bodyPr/>
                    <a:lstStyle/>
                    <a:p>
                      <a:pPr marL="0" indent="0" algn="l">
                        <a:buNone/>
                      </a:pPr>
                      <a:r>
                        <a:rPr lang="en-US" sz="900" dirty="0">
                          <a:solidFill>
                            <a:srgbClr val="2C3E50"/>
                          </a:solidFill>
                          <a:latin typeface="Calibri" pitchFamily="34" charset="0"/>
                          <a:ea typeface="Calibri" pitchFamily="34" charset="-122"/>
                          <a:cs typeface="Calibri" pitchFamily="34" charset="-120"/>
                        </a:rPr>
                        <a:t>Anaheim Global Medical Ctr</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Anaheim</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CA</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103</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b="1" dirty="0">
                          <a:solidFill>
                            <a:srgbClr val="E74C3C"/>
                          </a:solidFill>
                          <a:latin typeface="Calibri" pitchFamily="34" charset="0"/>
                          <a:ea typeface="Calibri" pitchFamily="34" charset="-122"/>
                          <a:cs typeface="Calibri" pitchFamily="34" charset="-120"/>
                        </a:rPr>
                        <a:t>-11.3%</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51.5%</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11"/>
                  </a:ext>
                </a:extLst>
              </a:tr>
              <a:tr h="256032">
                <a:tc>
                  <a:txBody>
                    <a:bodyPr/>
                    <a:lstStyle/>
                    <a:p>
                      <a:pPr marL="0" indent="0" algn="l">
                        <a:buNone/>
                      </a:pPr>
                      <a:r>
                        <a:rPr lang="en-US" sz="900" dirty="0">
                          <a:solidFill>
                            <a:srgbClr val="2C3E50"/>
                          </a:solidFill>
                          <a:latin typeface="Calibri" pitchFamily="34" charset="0"/>
                          <a:ea typeface="Calibri" pitchFamily="34" charset="-122"/>
                          <a:cs typeface="Calibri" pitchFamily="34" charset="-120"/>
                        </a:rPr>
                        <a:t>Victor Valley Global Medical Ctr</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Victor Valley</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CA</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101</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b="1" dirty="0">
                          <a:solidFill>
                            <a:srgbClr val="E74C3C"/>
                          </a:solidFill>
                          <a:latin typeface="Calibri" pitchFamily="34" charset="0"/>
                          <a:ea typeface="Calibri" pitchFamily="34" charset="-122"/>
                          <a:cs typeface="Calibri" pitchFamily="34" charset="-120"/>
                        </a:rPr>
                        <a:t>-7.9%</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50.4%</a:t>
                      </a:r>
                      <a:endParaRPr lang="en-US" sz="900" dirty="0">
                        <a:latin typeface="Calibri" charset="0"/>
                        <a:ea typeface="Calibri" charset="0"/>
                        <a:cs typeface="Calibri"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extLst>
                  <a:ext uri="{0D108BD9-81ED-4DB2-BD59-A6C34878D82A}">
                    <a16:rowId xmlns:a16="http://schemas.microsoft.com/office/drawing/2014/main" val="10012"/>
                  </a:ext>
                </a:extLst>
              </a:tr>
            </a:tbl>
          </a:graphicData>
        </a:graphic>
      </p:graphicFrame>
      <p:sp>
        <p:nvSpPr>
          <p:cNvPr id="5" name="Text 2"/>
          <p:cNvSpPr/>
          <p:nvPr/>
        </p:nvSpPr>
        <p:spPr>
          <a:xfrm>
            <a:off x="457200" y="4297680"/>
            <a:ext cx="8229600" cy="457200"/>
          </a:xfrm>
          <a:prstGeom prst="rect">
            <a:avLst/>
          </a:prstGeom>
          <a:noFill/>
          <a:ln/>
        </p:spPr>
        <p:txBody>
          <a:bodyPr wrap="square" rtlCol="0" anchor="ctr"/>
          <a:lstStyle/>
          <a:p>
            <a:pPr marL="0" indent="0">
              <a:buNone/>
            </a:pPr>
            <a:r>
              <a:rPr lang="en-US" sz="1000" dirty="0">
                <a:solidFill>
                  <a:srgbClr val="2C3E50"/>
                </a:solidFill>
                <a:latin typeface="Calibri" pitchFamily="34" charset="0"/>
                <a:ea typeface="Calibri" pitchFamily="34" charset="-122"/>
                <a:cs typeface="Calibri" pitchFamily="34" charset="-120"/>
              </a:rPr>
              <a:t>Pattern: These are predominantly public safety-net hospitals serving low-income communities. All have Medicaid dependence &gt;50% and negative margins -OBBBA cuts will deepen their losses.</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4114800" y="914400"/>
            <a:ext cx="640080" cy="640080"/>
          </a:xfrm>
          <a:prstGeom prst="ellipse">
            <a:avLst/>
          </a:prstGeom>
          <a:solidFill>
            <a:srgbClr val="C0392B"/>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210812" y="1010412"/>
            <a:ext cx="448056" cy="448056"/>
          </a:xfrm>
          <a:prstGeom prst="rect">
            <a:avLst/>
          </a:prstGeom>
        </p:spPr>
      </p:pic>
      <p:sp>
        <p:nvSpPr>
          <p:cNvPr id="4" name="Text 1"/>
          <p:cNvSpPr/>
          <p:nvPr/>
        </p:nvSpPr>
        <p:spPr>
          <a:xfrm>
            <a:off x="457200" y="1828800"/>
            <a:ext cx="8229600" cy="822960"/>
          </a:xfrm>
          <a:prstGeom prst="rect">
            <a:avLst/>
          </a:prstGeom>
          <a:noFill/>
          <a:ln/>
        </p:spPr>
        <p:txBody>
          <a:bodyPr wrap="square"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Key Findings &amp; Recommendations</a:t>
            </a:r>
            <a:endParaRPr lang="en-US" sz="3400" dirty="0"/>
          </a:p>
        </p:txBody>
      </p:sp>
      <p:sp>
        <p:nvSpPr>
          <p:cNvPr id="5" name="Text 2"/>
          <p:cNvSpPr/>
          <p:nvPr/>
        </p:nvSpPr>
        <p:spPr>
          <a:xfrm>
            <a:off x="1097280" y="2834640"/>
            <a:ext cx="6949440" cy="457200"/>
          </a:xfrm>
          <a:prstGeom prst="rect">
            <a:avLst/>
          </a:prstGeom>
          <a:noFill/>
          <a:ln/>
        </p:spPr>
        <p:txBody>
          <a:bodyPr wrap="square" rtlCol="0" anchor="ctr"/>
          <a:lstStyle/>
          <a:p>
            <a:pPr marL="0" indent="0" algn="ctr">
              <a:buNone/>
            </a:pPr>
            <a:r>
              <a:rPr lang="en-US" sz="1500" dirty="0">
                <a:solidFill>
                  <a:srgbClr val="CADCFC"/>
                </a:solidFill>
                <a:latin typeface="Calibri" pitchFamily="34" charset="0"/>
                <a:ea typeface="Calibri" pitchFamily="34" charset="-122"/>
                <a:cs typeface="Calibri" pitchFamily="34" charset="-120"/>
              </a:rPr>
              <a:t>From data to actionable policy</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1A2E"/>
          </a:solidFill>
          <a:ln/>
        </p:spPr>
        <p:txBody>
          <a:bodyPr/>
          <a:lstStyle/>
          <a:p>
            <a:endParaRPr lang="en-US"/>
          </a:p>
        </p:txBody>
      </p:sp>
      <p:sp>
        <p:nvSpPr>
          <p:cNvPr id="3" name="Text 1"/>
          <p:cNvSpPr/>
          <p:nvPr/>
        </p:nvSpPr>
        <p:spPr>
          <a:xfrm>
            <a:off x="457200" y="109728"/>
            <a:ext cx="8229600" cy="5486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Policy Action Dashboard</a:t>
            </a:r>
            <a:endParaRPr lang="en-US" sz="2200" dirty="0"/>
          </a:p>
        </p:txBody>
      </p:sp>
      <p:pic>
        <p:nvPicPr>
          <p:cNvPr id="4" name="Image 0" descr="nb_images/cell25_fig1.png"/>
          <p:cNvPicPr>
            <a:picLocks noChangeAspect="1"/>
          </p:cNvPicPr>
          <p:nvPr/>
        </p:nvPicPr>
        <p:blipFill>
          <a:blip r:embed="rId3"/>
          <a:srcRect/>
          <a:stretch/>
        </p:blipFill>
        <p:spPr>
          <a:xfrm>
            <a:off x="137160" y="868680"/>
            <a:ext cx="8869680" cy="420624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1A2E"/>
          </a:solidFill>
          <a:ln/>
        </p:spPr>
        <p:txBody>
          <a:bodyPr/>
          <a:lstStyle/>
          <a:p>
            <a:endParaRPr lang="en-US"/>
          </a:p>
        </p:txBody>
      </p:sp>
      <p:sp>
        <p:nvSpPr>
          <p:cNvPr id="3" name="Text 1"/>
          <p:cNvSpPr/>
          <p:nvPr/>
        </p:nvSpPr>
        <p:spPr>
          <a:xfrm>
            <a:off x="457200" y="109728"/>
            <a:ext cx="8229600" cy="5486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Policy Recommendations</a:t>
            </a:r>
            <a:endParaRPr lang="en-US" sz="2200" dirty="0"/>
          </a:p>
        </p:txBody>
      </p:sp>
      <p:pic>
        <p:nvPicPr>
          <p:cNvPr id="4" name="Image 0" descr="nb_images/cell26_fig2.png"/>
          <p:cNvPicPr>
            <a:picLocks noChangeAspect="1"/>
          </p:cNvPicPr>
          <p:nvPr/>
        </p:nvPicPr>
        <p:blipFill>
          <a:blip r:embed="rId3"/>
          <a:srcRect/>
          <a:stretch/>
        </p:blipFill>
        <p:spPr>
          <a:xfrm>
            <a:off x="182880" y="868680"/>
            <a:ext cx="5029200" cy="2286000"/>
          </a:xfrm>
          <a:prstGeom prst="rect">
            <a:avLst/>
          </a:prstGeom>
        </p:spPr>
      </p:pic>
      <p:sp>
        <p:nvSpPr>
          <p:cNvPr id="5" name="Shape 2"/>
          <p:cNvSpPr/>
          <p:nvPr/>
        </p:nvSpPr>
        <p:spPr>
          <a:xfrm>
            <a:off x="5486400" y="868680"/>
            <a:ext cx="3383280" cy="2286000"/>
          </a:xfrm>
          <a:prstGeom prst="rect">
            <a:avLst/>
          </a:prstGeom>
          <a:solidFill>
            <a:srgbClr val="F5F6FA"/>
          </a:solidFill>
          <a:ln/>
          <a:effectLst>
            <a:outerShdw blurRad="50800" dist="25400" dir="8100000" algn="bl" rotWithShape="0">
              <a:srgbClr val="000000">
                <a:alpha val="8000"/>
              </a:srgbClr>
            </a:outerShdw>
          </a:effectLst>
        </p:spPr>
        <p:txBody>
          <a:bodyPr/>
          <a:lstStyle/>
          <a:p>
            <a:endParaRPr lang="en-US"/>
          </a:p>
        </p:txBody>
      </p:sp>
      <p:sp>
        <p:nvSpPr>
          <p:cNvPr id="6" name="Text 3"/>
          <p:cNvSpPr/>
          <p:nvPr/>
        </p:nvSpPr>
        <p:spPr>
          <a:xfrm>
            <a:off x="5669280" y="960120"/>
            <a:ext cx="3017520" cy="274320"/>
          </a:xfrm>
          <a:prstGeom prst="rect">
            <a:avLst/>
          </a:prstGeom>
          <a:noFill/>
          <a:ln/>
        </p:spPr>
        <p:txBody>
          <a:bodyPr wrap="square" rtlCol="0" anchor="ctr"/>
          <a:lstStyle/>
          <a:p>
            <a:pPr marL="0" indent="0">
              <a:buNone/>
            </a:pPr>
            <a:r>
              <a:rPr lang="en-US" sz="1300" b="1" dirty="0">
                <a:solidFill>
                  <a:srgbClr val="C0392B"/>
                </a:solidFill>
                <a:latin typeface="Georgia" pitchFamily="34" charset="0"/>
                <a:ea typeface="Georgia" pitchFamily="34" charset="-122"/>
                <a:cs typeface="Georgia" pitchFamily="34" charset="-120"/>
              </a:rPr>
              <a:t>Action Priorities</a:t>
            </a:r>
            <a:endParaRPr lang="en-US" sz="1300" dirty="0"/>
          </a:p>
        </p:txBody>
      </p:sp>
      <p:sp>
        <p:nvSpPr>
          <p:cNvPr id="7" name="Text 4"/>
          <p:cNvSpPr/>
          <p:nvPr/>
        </p:nvSpPr>
        <p:spPr>
          <a:xfrm>
            <a:off x="5669280" y="1325880"/>
            <a:ext cx="3017520" cy="1828800"/>
          </a:xfrm>
          <a:prstGeom prst="rect">
            <a:avLst/>
          </a:prstGeom>
          <a:noFill/>
          <a:ln/>
        </p:spPr>
        <p:txBody>
          <a:bodyPr wrap="square" rtlCol="0" anchor="ctr"/>
          <a:lstStyle/>
          <a:p>
            <a:pPr marL="0" indent="0">
              <a:buNone/>
            </a:pPr>
            <a:r>
              <a:rPr lang="en-US" sz="950" dirty="0">
                <a:solidFill>
                  <a:srgbClr val="2C3E50"/>
                </a:solidFill>
                <a:latin typeface="Calibri" pitchFamily="34" charset="0"/>
                <a:ea typeface="Calibri" pitchFamily="34" charset="-122"/>
                <a:cs typeface="Calibri" pitchFamily="34" charset="-120"/>
              </a:rPr>
              <a:t>CRITICAL: Target the 363 hospitals with &gt;30% Medicaid dependence using risk-stratified allocation from the Rural Health Fund.</a:t>
            </a:r>
            <a:endParaRPr lang="en-US" sz="950" dirty="0"/>
          </a:p>
          <a:p>
            <a:pPr marL="0" indent="0">
              <a:buNone/>
            </a:pPr>
            <a:endParaRPr lang="en-US" sz="950" dirty="0"/>
          </a:p>
          <a:p>
            <a:pPr marL="0" indent="0">
              <a:buNone/>
            </a:pPr>
            <a:r>
              <a:rPr lang="en-US" sz="950" dirty="0">
                <a:solidFill>
                  <a:srgbClr val="2C3E50"/>
                </a:solidFill>
                <a:latin typeface="Calibri" pitchFamily="34" charset="0"/>
                <a:ea typeface="Calibri" pitchFamily="34" charset="-122"/>
                <a:cs typeface="Calibri" pitchFamily="34" charset="-120"/>
              </a:rPr>
              <a:t>CRITICAL: Enhanced support for ~1,200 small rural hospitals (&lt;50 beds) with cost-based reimbursement.</a:t>
            </a:r>
            <a:endParaRPr lang="en-US" sz="950" dirty="0"/>
          </a:p>
          <a:p>
            <a:pPr marL="0" indent="0">
              <a:buNone/>
            </a:pPr>
            <a:endParaRPr lang="en-US" sz="950" dirty="0"/>
          </a:p>
          <a:p>
            <a:pPr marL="0" indent="0">
              <a:buNone/>
            </a:pPr>
            <a:r>
              <a:rPr lang="en-US" sz="950" dirty="0">
                <a:solidFill>
                  <a:srgbClr val="2C3E50"/>
                </a:solidFill>
                <a:latin typeface="Calibri" pitchFamily="34" charset="0"/>
                <a:ea typeface="Calibri" pitchFamily="34" charset="-122"/>
                <a:cs typeface="Calibri" pitchFamily="34" charset="-120"/>
              </a:rPr>
              <a:t>HIGH: State-level contingency plans before closures occur.</a:t>
            </a:r>
            <a:endParaRPr lang="en-US" sz="950" dirty="0"/>
          </a:p>
          <a:p>
            <a:pPr marL="0" indent="0">
              <a:buNone/>
            </a:pPr>
            <a:endParaRPr lang="en-US" sz="950" dirty="0"/>
          </a:p>
          <a:p>
            <a:pPr marL="0" indent="0">
              <a:buNone/>
            </a:pPr>
            <a:r>
              <a:rPr lang="en-US" sz="950" dirty="0">
                <a:solidFill>
                  <a:srgbClr val="2C3E50"/>
                </a:solidFill>
                <a:latin typeface="Calibri" pitchFamily="34" charset="0"/>
                <a:ea typeface="Calibri" pitchFamily="34" charset="-122"/>
                <a:cs typeface="Calibri" pitchFamily="34" charset="-120"/>
              </a:rPr>
              <a:t>HIGH: Workforce transition programs for affected communities.</a:t>
            </a:r>
            <a:endParaRPr lang="en-US" sz="950" dirty="0"/>
          </a:p>
          <a:p>
            <a:pPr marL="0" indent="0">
              <a:buNone/>
            </a:pPr>
            <a:endParaRPr lang="en-US" sz="950" dirty="0"/>
          </a:p>
          <a:p>
            <a:pPr marL="0" indent="0">
              <a:buNone/>
            </a:pPr>
            <a:r>
              <a:rPr lang="en-US" sz="950" dirty="0">
                <a:solidFill>
                  <a:srgbClr val="2C3E50"/>
                </a:solidFill>
                <a:latin typeface="Calibri" pitchFamily="34" charset="0"/>
                <a:ea typeface="Calibri" pitchFamily="34" charset="-122"/>
                <a:cs typeface="Calibri" pitchFamily="34" charset="-120"/>
              </a:rPr>
              <a:t>MEDIUM: Telehealth infrastructure investment.</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1A2E"/>
          </a:solidFill>
          <a:ln/>
        </p:spPr>
        <p:txBody>
          <a:bodyPr/>
          <a:lstStyle/>
          <a:p>
            <a:endParaRPr lang="en-US"/>
          </a:p>
        </p:txBody>
      </p:sp>
      <p:sp>
        <p:nvSpPr>
          <p:cNvPr id="3" name="Text 1"/>
          <p:cNvSpPr/>
          <p:nvPr/>
        </p:nvSpPr>
        <p:spPr>
          <a:xfrm>
            <a:off x="457200" y="109728"/>
            <a:ext cx="8229600" cy="54864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Key Findings Summary</a:t>
            </a:r>
            <a:endParaRPr lang="en-US" sz="2200" dirty="0"/>
          </a:p>
        </p:txBody>
      </p:sp>
      <p:sp>
        <p:nvSpPr>
          <p:cNvPr id="4" name="Shape 2"/>
          <p:cNvSpPr/>
          <p:nvPr/>
        </p:nvSpPr>
        <p:spPr>
          <a:xfrm>
            <a:off x="365760" y="960120"/>
            <a:ext cx="73152" cy="658368"/>
          </a:xfrm>
          <a:prstGeom prst="rect">
            <a:avLst/>
          </a:prstGeom>
          <a:solidFill>
            <a:srgbClr val="C0392B"/>
          </a:solidFill>
          <a:ln/>
        </p:spPr>
        <p:txBody>
          <a:bodyPr/>
          <a:lstStyle/>
          <a:p>
            <a:endParaRPr lang="en-US"/>
          </a:p>
        </p:txBody>
      </p:sp>
      <p:sp>
        <p:nvSpPr>
          <p:cNvPr id="5" name="Text 3"/>
          <p:cNvSpPr/>
          <p:nvPr/>
        </p:nvSpPr>
        <p:spPr>
          <a:xfrm>
            <a:off x="594360" y="960120"/>
            <a:ext cx="2377440" cy="658368"/>
          </a:xfrm>
          <a:prstGeom prst="rect">
            <a:avLst/>
          </a:prstGeom>
          <a:noFill/>
          <a:ln/>
        </p:spPr>
        <p:txBody>
          <a:bodyPr wrap="square" rtlCol="0" anchor="ctr"/>
          <a:lstStyle/>
          <a:p>
            <a:pPr marL="0" indent="0">
              <a:buNone/>
            </a:pPr>
            <a:r>
              <a:rPr lang="en-US" sz="1300" b="1" dirty="0">
                <a:solidFill>
                  <a:srgbClr val="C0392B"/>
                </a:solidFill>
                <a:latin typeface="Georgia" pitchFamily="34" charset="0"/>
                <a:ea typeface="Georgia" pitchFamily="34" charset="-122"/>
                <a:cs typeface="Georgia" pitchFamily="34" charset="-120"/>
              </a:rPr>
              <a:t>22% already distressed</a:t>
            </a:r>
            <a:endParaRPr lang="en-US" sz="1300" dirty="0"/>
          </a:p>
        </p:txBody>
      </p:sp>
      <p:sp>
        <p:nvSpPr>
          <p:cNvPr id="6" name="Text 4"/>
          <p:cNvSpPr/>
          <p:nvPr/>
        </p:nvSpPr>
        <p:spPr>
          <a:xfrm>
            <a:off x="3063240" y="960120"/>
            <a:ext cx="5669280" cy="658368"/>
          </a:xfrm>
          <a:prstGeom prst="rect">
            <a:avLst/>
          </a:prstGeom>
          <a:noFill/>
          <a:ln/>
        </p:spPr>
        <p:txBody>
          <a:bodyPr wrap="square" rtlCol="0" anchor="ctr"/>
          <a:lstStyle/>
          <a:p>
            <a:pPr marL="0" indent="0">
              <a:buNone/>
            </a:pPr>
            <a:r>
              <a:rPr lang="en-US" sz="1050" dirty="0">
                <a:solidFill>
                  <a:srgbClr val="2C3E50"/>
                </a:solidFill>
                <a:latin typeface="Calibri" pitchFamily="34" charset="0"/>
                <a:ea typeface="Calibri" pitchFamily="34" charset="-122"/>
                <a:cs typeface="Calibri" pitchFamily="34" charset="-120"/>
              </a:rPr>
              <a:t>956 hospitals have negative operating margins before any OBBBA cuts take effect. This is the vulnerable baseline the legislation will worsen.</a:t>
            </a:r>
            <a:endParaRPr lang="en-US" sz="1050" dirty="0"/>
          </a:p>
        </p:txBody>
      </p:sp>
      <p:sp>
        <p:nvSpPr>
          <p:cNvPr id="7" name="Shape 5"/>
          <p:cNvSpPr/>
          <p:nvPr/>
        </p:nvSpPr>
        <p:spPr>
          <a:xfrm>
            <a:off x="365760" y="1764792"/>
            <a:ext cx="73152" cy="658368"/>
          </a:xfrm>
          <a:prstGeom prst="rect">
            <a:avLst/>
          </a:prstGeom>
          <a:solidFill>
            <a:srgbClr val="E67E22"/>
          </a:solidFill>
          <a:ln/>
        </p:spPr>
        <p:txBody>
          <a:bodyPr/>
          <a:lstStyle/>
          <a:p>
            <a:endParaRPr lang="en-US"/>
          </a:p>
        </p:txBody>
      </p:sp>
      <p:sp>
        <p:nvSpPr>
          <p:cNvPr id="8" name="Text 6"/>
          <p:cNvSpPr/>
          <p:nvPr/>
        </p:nvSpPr>
        <p:spPr>
          <a:xfrm>
            <a:off x="594360" y="1764792"/>
            <a:ext cx="2377440" cy="658368"/>
          </a:xfrm>
          <a:prstGeom prst="rect">
            <a:avLst/>
          </a:prstGeom>
          <a:noFill/>
          <a:ln/>
        </p:spPr>
        <p:txBody>
          <a:bodyPr wrap="square" rtlCol="0" anchor="ctr"/>
          <a:lstStyle/>
          <a:p>
            <a:pPr marL="0" indent="0">
              <a:buNone/>
            </a:pPr>
            <a:r>
              <a:rPr lang="en-US" sz="1300" b="1" dirty="0">
                <a:solidFill>
                  <a:srgbClr val="E67E22"/>
                </a:solidFill>
                <a:latin typeface="Georgia" pitchFamily="34" charset="0"/>
                <a:ea typeface="Georgia" pitchFamily="34" charset="-122"/>
                <a:cs typeface="Georgia" pitchFamily="34" charset="-120"/>
              </a:rPr>
              <a:t>Medicaid = #1 predictor</a:t>
            </a:r>
            <a:endParaRPr lang="en-US" sz="1300" dirty="0"/>
          </a:p>
        </p:txBody>
      </p:sp>
      <p:sp>
        <p:nvSpPr>
          <p:cNvPr id="9" name="Text 7"/>
          <p:cNvSpPr/>
          <p:nvPr/>
        </p:nvSpPr>
        <p:spPr>
          <a:xfrm>
            <a:off x="3063240" y="1764792"/>
            <a:ext cx="5669280" cy="658368"/>
          </a:xfrm>
          <a:prstGeom prst="rect">
            <a:avLst/>
          </a:prstGeom>
          <a:noFill/>
          <a:ln/>
        </p:spPr>
        <p:txBody>
          <a:bodyPr wrap="square" rtlCol="0" anchor="ctr"/>
          <a:lstStyle/>
          <a:p>
            <a:pPr marL="0" indent="0">
              <a:buNone/>
            </a:pPr>
            <a:r>
              <a:rPr lang="en-US" sz="1050" dirty="0">
                <a:solidFill>
                  <a:srgbClr val="2C3E50"/>
                </a:solidFill>
                <a:latin typeface="Calibri" pitchFamily="34" charset="0"/>
                <a:ea typeface="Calibri" pitchFamily="34" charset="-122"/>
                <a:cs typeface="Calibri" pitchFamily="34" charset="-120"/>
              </a:rPr>
              <a:t>Medicaid payer mix is the strongest predictor of closure risk. 363 hospitals with &gt;30% Medicaid dependence face the most acute threat.</a:t>
            </a:r>
            <a:endParaRPr lang="en-US" sz="1050" dirty="0"/>
          </a:p>
        </p:txBody>
      </p:sp>
      <p:sp>
        <p:nvSpPr>
          <p:cNvPr id="10" name="Shape 8"/>
          <p:cNvSpPr/>
          <p:nvPr/>
        </p:nvSpPr>
        <p:spPr>
          <a:xfrm>
            <a:off x="365760" y="2569464"/>
            <a:ext cx="73152" cy="658368"/>
          </a:xfrm>
          <a:prstGeom prst="rect">
            <a:avLst/>
          </a:prstGeom>
          <a:solidFill>
            <a:srgbClr val="C0392B"/>
          </a:solidFill>
          <a:ln/>
        </p:spPr>
        <p:txBody>
          <a:bodyPr/>
          <a:lstStyle/>
          <a:p>
            <a:endParaRPr lang="en-US"/>
          </a:p>
        </p:txBody>
      </p:sp>
      <p:sp>
        <p:nvSpPr>
          <p:cNvPr id="11" name="Text 9"/>
          <p:cNvSpPr/>
          <p:nvPr/>
        </p:nvSpPr>
        <p:spPr>
          <a:xfrm>
            <a:off x="594360" y="2569464"/>
            <a:ext cx="2377440" cy="658368"/>
          </a:xfrm>
          <a:prstGeom prst="rect">
            <a:avLst/>
          </a:prstGeom>
          <a:noFill/>
          <a:ln/>
        </p:spPr>
        <p:txBody>
          <a:bodyPr wrap="square" rtlCol="0" anchor="ctr"/>
          <a:lstStyle/>
          <a:p>
            <a:pPr marL="0" indent="0">
              <a:buNone/>
            </a:pPr>
            <a:r>
              <a:rPr lang="en-US" sz="1300" b="1" dirty="0">
                <a:solidFill>
                  <a:srgbClr val="C0392B"/>
                </a:solidFill>
                <a:latin typeface="Georgia" pitchFamily="34" charset="0"/>
                <a:ea typeface="Georgia" pitchFamily="34" charset="-122"/>
                <a:cs typeface="Georgia" pitchFamily="34" charset="-120"/>
              </a:rPr>
              <a:t>Rural hospitals 2x at risk</a:t>
            </a:r>
            <a:endParaRPr lang="en-US" sz="1300" dirty="0"/>
          </a:p>
        </p:txBody>
      </p:sp>
      <p:sp>
        <p:nvSpPr>
          <p:cNvPr id="12" name="Text 10"/>
          <p:cNvSpPr/>
          <p:nvPr/>
        </p:nvSpPr>
        <p:spPr>
          <a:xfrm>
            <a:off x="3063240" y="2569464"/>
            <a:ext cx="5669280" cy="658368"/>
          </a:xfrm>
          <a:prstGeom prst="rect">
            <a:avLst/>
          </a:prstGeom>
          <a:noFill/>
          <a:ln/>
        </p:spPr>
        <p:txBody>
          <a:bodyPr wrap="square" rtlCol="0" anchor="ctr"/>
          <a:lstStyle/>
          <a:p>
            <a:pPr marL="0" indent="0">
              <a:buNone/>
            </a:pPr>
            <a:r>
              <a:rPr lang="en-US" sz="1050" dirty="0">
                <a:solidFill>
                  <a:srgbClr val="2C3E50"/>
                </a:solidFill>
                <a:latin typeface="Calibri" pitchFamily="34" charset="0"/>
                <a:ea typeface="Calibri" pitchFamily="34" charset="-122"/>
                <a:cs typeface="Calibri" pitchFamily="34" charset="-120"/>
              </a:rPr>
              <a:t>Rural hospitals have lower margins, smaller beds, and less commercial revenue to cross-subsidize. 2,627 rural hospitals are disproportionately represented in all high-risk categories.</a:t>
            </a:r>
            <a:endParaRPr lang="en-US" sz="1050" dirty="0"/>
          </a:p>
        </p:txBody>
      </p:sp>
      <p:sp>
        <p:nvSpPr>
          <p:cNvPr id="13" name="Shape 11"/>
          <p:cNvSpPr/>
          <p:nvPr/>
        </p:nvSpPr>
        <p:spPr>
          <a:xfrm>
            <a:off x="365760" y="3374136"/>
            <a:ext cx="73152" cy="658368"/>
          </a:xfrm>
          <a:prstGeom prst="rect">
            <a:avLst/>
          </a:prstGeom>
          <a:solidFill>
            <a:srgbClr val="1A1A2E"/>
          </a:solidFill>
          <a:ln/>
        </p:spPr>
        <p:txBody>
          <a:bodyPr/>
          <a:lstStyle/>
          <a:p>
            <a:endParaRPr lang="en-US"/>
          </a:p>
        </p:txBody>
      </p:sp>
      <p:sp>
        <p:nvSpPr>
          <p:cNvPr id="14" name="Text 12"/>
          <p:cNvSpPr/>
          <p:nvPr/>
        </p:nvSpPr>
        <p:spPr>
          <a:xfrm>
            <a:off x="594360" y="3374136"/>
            <a:ext cx="2377440" cy="658368"/>
          </a:xfrm>
          <a:prstGeom prst="rect">
            <a:avLst/>
          </a:prstGeom>
          <a:noFill/>
          <a:ln/>
        </p:spPr>
        <p:txBody>
          <a:bodyPr wrap="square" rtlCol="0" anchor="ctr"/>
          <a:lstStyle/>
          <a:p>
            <a:pPr marL="0" indent="0">
              <a:buNone/>
            </a:pPr>
            <a:r>
              <a:rPr lang="en-US" sz="1300" b="1" dirty="0">
                <a:solidFill>
                  <a:srgbClr val="1A1A2E"/>
                </a:solidFill>
                <a:latin typeface="Georgia" pitchFamily="34" charset="0"/>
                <a:ea typeface="Georgia" pitchFamily="34" charset="-122"/>
                <a:cs typeface="Georgia" pitchFamily="34" charset="-120"/>
              </a:rPr>
              <a:t>217 hospitals already gone</a:t>
            </a:r>
            <a:endParaRPr lang="en-US" sz="1300" dirty="0"/>
          </a:p>
        </p:txBody>
      </p:sp>
      <p:sp>
        <p:nvSpPr>
          <p:cNvPr id="15" name="Text 13"/>
          <p:cNvSpPr/>
          <p:nvPr/>
        </p:nvSpPr>
        <p:spPr>
          <a:xfrm>
            <a:off x="3063240" y="3374136"/>
            <a:ext cx="5669280" cy="658368"/>
          </a:xfrm>
          <a:prstGeom prst="rect">
            <a:avLst/>
          </a:prstGeom>
          <a:noFill/>
          <a:ln/>
        </p:spPr>
        <p:txBody>
          <a:bodyPr wrap="square" rtlCol="0" anchor="ctr"/>
          <a:lstStyle/>
          <a:p>
            <a:pPr marL="0" indent="0">
              <a:buNone/>
            </a:pPr>
            <a:r>
              <a:rPr lang="en-US" sz="1050" dirty="0">
                <a:solidFill>
                  <a:srgbClr val="2C3E50"/>
                </a:solidFill>
                <a:latin typeface="Calibri" pitchFamily="34" charset="0"/>
                <a:ea typeface="Calibri" pitchFamily="34" charset="-122"/>
                <a:cs typeface="Calibri" pitchFamily="34" charset="-120"/>
              </a:rPr>
              <a:t>Closures from 2020-2024 followed predictable financial patterns - the same patterns our model now detects in currently operating hospitals.</a:t>
            </a:r>
            <a:endParaRPr lang="en-US" sz="1050" dirty="0"/>
          </a:p>
        </p:txBody>
      </p:sp>
      <p:sp>
        <p:nvSpPr>
          <p:cNvPr id="16" name="Shape 14"/>
          <p:cNvSpPr/>
          <p:nvPr/>
        </p:nvSpPr>
        <p:spPr>
          <a:xfrm>
            <a:off x="365760" y="4178808"/>
            <a:ext cx="73152" cy="658368"/>
          </a:xfrm>
          <a:prstGeom prst="rect">
            <a:avLst/>
          </a:prstGeom>
          <a:solidFill>
            <a:srgbClr val="E74C3C"/>
          </a:solidFill>
          <a:ln/>
        </p:spPr>
        <p:txBody>
          <a:bodyPr/>
          <a:lstStyle/>
          <a:p>
            <a:endParaRPr lang="en-US"/>
          </a:p>
        </p:txBody>
      </p:sp>
      <p:sp>
        <p:nvSpPr>
          <p:cNvPr id="17" name="Text 15"/>
          <p:cNvSpPr/>
          <p:nvPr/>
        </p:nvSpPr>
        <p:spPr>
          <a:xfrm>
            <a:off x="594360" y="4178808"/>
            <a:ext cx="2377440" cy="658368"/>
          </a:xfrm>
          <a:prstGeom prst="rect">
            <a:avLst/>
          </a:prstGeom>
          <a:noFill/>
          <a:ln/>
        </p:spPr>
        <p:txBody>
          <a:bodyPr wrap="square" rtlCol="0" anchor="ctr"/>
          <a:lstStyle/>
          <a:p>
            <a:pPr marL="0" indent="0">
              <a:buNone/>
            </a:pPr>
            <a:r>
              <a:rPr lang="en-US" sz="1300" b="1" dirty="0">
                <a:solidFill>
                  <a:srgbClr val="E74C3C"/>
                </a:solidFill>
                <a:latin typeface="Georgia" pitchFamily="34" charset="0"/>
                <a:ea typeface="Georgia" pitchFamily="34" charset="-122"/>
                <a:cs typeface="Georgia" pitchFamily="34" charset="-120"/>
              </a:rPr>
              <a:t>20% cut = hundreds more</a:t>
            </a:r>
            <a:endParaRPr lang="en-US" sz="1300" dirty="0"/>
          </a:p>
        </p:txBody>
      </p:sp>
      <p:sp>
        <p:nvSpPr>
          <p:cNvPr id="18" name="Text 16"/>
          <p:cNvSpPr/>
          <p:nvPr/>
        </p:nvSpPr>
        <p:spPr>
          <a:xfrm>
            <a:off x="3063240" y="4178808"/>
            <a:ext cx="5669280" cy="658368"/>
          </a:xfrm>
          <a:prstGeom prst="rect">
            <a:avLst/>
          </a:prstGeom>
          <a:noFill/>
          <a:ln/>
        </p:spPr>
        <p:txBody>
          <a:bodyPr wrap="square" rtlCol="0" anchor="ctr"/>
          <a:lstStyle/>
          <a:p>
            <a:pPr marL="0" indent="0">
              <a:buNone/>
            </a:pPr>
            <a:r>
              <a:rPr lang="en-US" sz="1050" dirty="0">
                <a:solidFill>
                  <a:srgbClr val="2C3E50"/>
                </a:solidFill>
                <a:latin typeface="Calibri" pitchFamily="34" charset="0"/>
                <a:ea typeface="Calibri" pitchFamily="34" charset="-122"/>
                <a:cs typeface="Calibri" pitchFamily="34" charset="-120"/>
              </a:rPr>
              <a:t>The scenario simulation shows that a 20% Medicaid revenue reduction (aligned with CBO estimates) pushes hundreds of additional hospitals from positive to negative margins.</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4114800" y="731520"/>
            <a:ext cx="731520" cy="731520"/>
          </a:xfrm>
          <a:prstGeom prst="ellipse">
            <a:avLst/>
          </a:prstGeom>
          <a:solidFill>
            <a:srgbClr val="C0392B"/>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224528" y="841248"/>
            <a:ext cx="512064" cy="512064"/>
          </a:xfrm>
          <a:prstGeom prst="rect">
            <a:avLst/>
          </a:prstGeom>
        </p:spPr>
      </p:pic>
      <p:sp>
        <p:nvSpPr>
          <p:cNvPr id="4" name="Text 1"/>
          <p:cNvSpPr/>
          <p:nvPr/>
        </p:nvSpPr>
        <p:spPr>
          <a:xfrm>
            <a:off x="457200" y="1737360"/>
            <a:ext cx="8229600" cy="822960"/>
          </a:xfrm>
          <a:prstGeom prst="rect">
            <a:avLst/>
          </a:prstGeom>
          <a:noFill/>
          <a:ln/>
        </p:spPr>
        <p:txBody>
          <a:bodyPr wrap="square" rtlCol="0" anchor="ctr"/>
          <a:lstStyle/>
          <a:p>
            <a:pPr marL="0" indent="0" algn="ctr">
              <a:buNone/>
            </a:pPr>
            <a:r>
              <a:rPr lang="en-US" sz="4000" b="1" dirty="0">
                <a:solidFill>
                  <a:srgbClr val="FFFFFF"/>
                </a:solidFill>
                <a:latin typeface="Georgia" pitchFamily="34" charset="0"/>
                <a:ea typeface="Georgia" pitchFamily="34" charset="-122"/>
                <a:cs typeface="Georgia" pitchFamily="34" charset="-120"/>
              </a:rPr>
              <a:t>Thank You</a:t>
            </a:r>
            <a:endParaRPr lang="en-US" sz="4000" dirty="0"/>
          </a:p>
        </p:txBody>
      </p:sp>
      <p:sp>
        <p:nvSpPr>
          <p:cNvPr id="5" name="Text 2"/>
          <p:cNvSpPr/>
          <p:nvPr/>
        </p:nvSpPr>
        <p:spPr>
          <a:xfrm>
            <a:off x="1371600" y="2651760"/>
            <a:ext cx="6400800" cy="457200"/>
          </a:xfrm>
          <a:prstGeom prst="rect">
            <a:avLst/>
          </a:prstGeom>
          <a:noFill/>
          <a:ln/>
        </p:spPr>
        <p:txBody>
          <a:bodyPr wrap="square" rtlCol="0" anchor="ctr"/>
          <a:lstStyle/>
          <a:p>
            <a:pPr marL="0" indent="0" algn="ctr">
              <a:buNone/>
            </a:pPr>
            <a:r>
              <a:rPr lang="en-US" sz="1600" dirty="0">
                <a:solidFill>
                  <a:srgbClr val="CADCFC"/>
                </a:solidFill>
                <a:latin typeface="Calibri" pitchFamily="34" charset="0"/>
                <a:ea typeface="Calibri" pitchFamily="34" charset="-122"/>
                <a:cs typeface="Calibri" pitchFamily="34" charset="-120"/>
              </a:rPr>
              <a:t>Hospital Closure Risk Prediction Model</a:t>
            </a:r>
            <a:endParaRPr lang="en-US" sz="1600" dirty="0"/>
          </a:p>
        </p:txBody>
      </p:sp>
      <p:sp>
        <p:nvSpPr>
          <p:cNvPr id="6" name="Text 3"/>
          <p:cNvSpPr/>
          <p:nvPr/>
        </p:nvSpPr>
        <p:spPr>
          <a:xfrm>
            <a:off x="1371600" y="3291840"/>
            <a:ext cx="6400800" cy="640080"/>
          </a:xfrm>
          <a:prstGeom prst="rect">
            <a:avLst/>
          </a:prstGeom>
          <a:noFill/>
          <a:ln/>
        </p:spPr>
        <p:txBody>
          <a:bodyPr wrap="square" rtlCol="0" anchor="ctr"/>
          <a:lstStyle/>
          <a:p>
            <a:pPr marL="0" indent="0" algn="ctr">
              <a:lnSpc>
                <a:spcPct val="150000"/>
              </a:lnSpc>
              <a:buNone/>
            </a:pPr>
            <a:r>
              <a:rPr lang="en-US" sz="1300" dirty="0">
                <a:solidFill>
                  <a:srgbClr val="8899AA"/>
                </a:solidFill>
                <a:latin typeface="Calibri" pitchFamily="34" charset="0"/>
                <a:ea typeface="Calibri" pitchFamily="34" charset="-122"/>
                <a:cs typeface="Calibri" pitchFamily="34" charset="-120"/>
              </a:rPr>
              <a:t>Cheryl  |  Northeastern University</a:t>
            </a:r>
            <a:endParaRPr lang="en-US" sz="1300" dirty="0"/>
          </a:p>
          <a:p>
            <a:pPr marL="0" indent="0" algn="ctr">
              <a:lnSpc>
                <a:spcPct val="150000"/>
              </a:lnSpc>
              <a:buNone/>
            </a:pPr>
            <a:r>
              <a:rPr lang="en-US" sz="1300" dirty="0">
                <a:solidFill>
                  <a:srgbClr val="8899AA"/>
                </a:solidFill>
                <a:latin typeface="Calibri" pitchFamily="34" charset="0"/>
                <a:ea typeface="Calibri" pitchFamily="34" charset="-122"/>
                <a:cs typeface="Calibri" pitchFamily="34" charset="-120"/>
              </a:rPr>
              <a:t>Master of Professional Studies in Analytics  |  April 2026</a:t>
            </a:r>
            <a:endParaRPr lang="en-US" sz="1300" dirty="0"/>
          </a:p>
        </p:txBody>
      </p:sp>
      <p:sp>
        <p:nvSpPr>
          <p:cNvPr id="7" name="Shape 4"/>
          <p:cNvSpPr/>
          <p:nvPr/>
        </p:nvSpPr>
        <p:spPr>
          <a:xfrm>
            <a:off x="3200400" y="4114800"/>
            <a:ext cx="2743200" cy="27432"/>
          </a:xfrm>
          <a:prstGeom prst="rect">
            <a:avLst/>
          </a:prstGeom>
          <a:solidFill>
            <a:srgbClr val="C0392B"/>
          </a:solidFill>
          <a:ln/>
        </p:spPr>
        <p:txBody>
          <a:bodyPr/>
          <a:lstStyle/>
          <a:p>
            <a:endParaRPr lang="en-US"/>
          </a:p>
        </p:txBody>
      </p:sp>
      <p:sp>
        <p:nvSpPr>
          <p:cNvPr id="8" name="Text 5"/>
          <p:cNvSpPr/>
          <p:nvPr/>
        </p:nvSpPr>
        <p:spPr>
          <a:xfrm>
            <a:off x="2743200" y="4297680"/>
            <a:ext cx="3657600" cy="365760"/>
          </a:xfrm>
          <a:prstGeom prst="rect">
            <a:avLst/>
          </a:prstGeom>
          <a:noFill/>
          <a:ln/>
        </p:spPr>
        <p:txBody>
          <a:bodyPr wrap="square" rtlCol="0" anchor="ctr"/>
          <a:lstStyle/>
          <a:p>
            <a:pPr marL="0" indent="0" algn="ctr">
              <a:buNone/>
            </a:pP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2025</Words>
  <Application>Microsoft Office PowerPoint</Application>
  <PresentationFormat>On-screen Show (16:9)</PresentationFormat>
  <Paragraphs>384</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 Closure Risk Prediction Model</dc:title>
  <dc:subject>PptxGenJS Presentation</dc:subject>
  <dc:creator>Cheryl</dc:creator>
  <cp:lastModifiedBy>Cheryl Mushangwe</cp:lastModifiedBy>
  <cp:revision>3</cp:revision>
  <dcterms:created xsi:type="dcterms:W3CDTF">2026-04-05T00:32:21Z</dcterms:created>
  <dcterms:modified xsi:type="dcterms:W3CDTF">2026-04-05T17:26:30Z</dcterms:modified>
</cp:coreProperties>
</file>